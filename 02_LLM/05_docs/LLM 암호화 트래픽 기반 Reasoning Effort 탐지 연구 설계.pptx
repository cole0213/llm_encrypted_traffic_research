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48" r:id="rId5"/>
  </p:sldMasterIdLst>
  <p:notesMasterIdLst>
    <p:notesMasterId r:id="rId19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  <p:sldId id="276" r:id="rIdS21"/>
    <p:sldId id="277" r:id="rIdS22"/>
    <p:sldId id="278" r:id="rIdS23"/>
    <p:sldId id="279" r:id="rIdS24"/>
    <p:sldId id="280" r:id="rIdS25"/>
    <p:sldId id="281" r:id="rIdS26"/>
    <p:sldId id="282" r:id="rIdS27"/>
    <p:sldId id="283" r:id="rIdS28"/>
    <p:sldId id="284" r:id="rIdS29"/>
    <p:sldId id="285" r:id="rIdS30"/>
    <p:sldId id="286" r:id="rIdS31"/>
    <p:sldId id="287" r:id="rIdS32"/>
    <p:sldId id="288" r:id="rIdS33"/>
    <p:sldId id="289" r:id="rIdS34"/>
    <p:sldId id="290" r:id="rIdS35"/>
    <p:sldId id="291" r:id="rIdS36"/>
    <p:sldId id="292" r:id="rIdS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75DA1"/>
    <a:srgbClr val="A7B5DB"/>
    <a:srgbClr val="DAEAFE"/>
    <a:srgbClr val="ABC5E3"/>
    <a:srgbClr val="056AE8"/>
    <a:srgbClr val="CC99FF"/>
    <a:srgbClr val="E5EFF9"/>
    <a:srgbClr val="ED7D31"/>
    <a:srgbClr val="3A5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85212" autoAdjust="0"/>
  </p:normalViewPr>
  <p:slideViewPr>
    <p:cSldViewPr snapToGrid="0">
      <p:cViewPr varScale="1">
        <p:scale>
          <a:sx n="95" d="100"/>
          <a:sy n="95" d="100"/>
        </p:scale>
        <p:origin x="1194" y="84"/>
      </p:cViewPr>
      <p:guideLst>
        <p:guide orient="horz" pos="1638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5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0" Type="http://schemas.openxmlformats.org/officeDocument/2006/relationships/slide" Target="slides/slide30.xml"/><Relationship Id="rIdS31" Type="http://schemas.openxmlformats.org/officeDocument/2006/relationships/slide" Target="slides/slide31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Relationship Id="rIdS35" Type="http://schemas.openxmlformats.org/officeDocument/2006/relationships/slide" Target="slides/slide35.xml"/><Relationship Id="rIdS36" Type="http://schemas.openxmlformats.org/officeDocument/2006/relationships/slide" Target="slides/slide36.xml"/><Relationship Id="rIdS37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규상" userId="7c42deb9-6a7f-49c1-bd12-bcc09b0d1268" providerId="ADAL" clId="{CAE6F4ED-B4AD-4EBB-ACF1-9B08D11F9080}"/>
    <pc:docChg chg="undo redo custSel addSld delSld modSld sldOrd">
      <pc:chgData name="심규상" userId="7c42deb9-6a7f-49c1-bd12-bcc09b0d1268" providerId="ADAL" clId="{CAE6F4ED-B4AD-4EBB-ACF1-9B08D11F9080}" dt="2026-09-06T15:42:43.411" v="1461" actId="478"/>
      <pc:docMkLst>
        <pc:docMk/>
      </pc:docMkLst>
      <pc:sldChg chg="modSp mod">
        <pc:chgData name="심규상" userId="7c42deb9-6a7f-49c1-bd12-bcc09b0d1268" providerId="ADAL" clId="{CAE6F4ED-B4AD-4EBB-ACF1-9B08D11F9080}" dt="2026-08-13T13:22:53.230" v="242" actId="20577"/>
        <pc:sldMkLst>
          <pc:docMk/>
          <pc:sldMk cId="0" sldId="256"/>
        </pc:sldMkLst>
        <pc:spChg chg="mod">
          <ac:chgData name="심규상" userId="7c42deb9-6a7f-49c1-bd12-bcc09b0d1268" providerId="ADAL" clId="{CAE6F4ED-B4AD-4EBB-ACF1-9B08D11F9080}" dt="2026-08-10T02:53:13.920" v="216"/>
          <ac:spMkLst>
            <pc:docMk/>
            <pc:sldMk cId="0" sldId="256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3T13:22:53.230" v="24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3T13:22:52.103" v="240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4.497" v="961" actId="20577"/>
        <pc:sldMkLst>
          <pc:docMk/>
          <pc:sldMk cId="0" sldId="257"/>
        </pc:sldMkLst>
        <pc:spChg chg="mod">
          <ac:chgData name="심규상" userId="7c42deb9-6a7f-49c1-bd12-bcc09b0d1268" providerId="ADAL" clId="{CAE6F4ED-B4AD-4EBB-ACF1-9B08D11F9080}" dt="2026-08-14T03:51:36.417" v="505"/>
          <ac:spMkLst>
            <pc:docMk/>
            <pc:sldMk cId="0" sldId="257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47:04.497" v="961" actId="20577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심규상" userId="7c42deb9-6a7f-49c1-bd12-bcc09b0d1268" providerId="ADAL" clId="{CAE6F4ED-B4AD-4EBB-ACF1-9B08D11F9080}" dt="2026-09-06T15:42:21.879" v="1457" actId="478"/>
        <pc:sldMkLst>
          <pc:docMk/>
          <pc:sldMk cId="0" sldId="258"/>
        </pc:sldMkLst>
        <pc:spChg chg="mod">
          <ac:chgData name="심규상" userId="7c42deb9-6a7f-49c1-bd12-bcc09b0d1268" providerId="ADAL" clId="{CAE6F4ED-B4AD-4EBB-ACF1-9B08D11F9080}" dt="2026-08-11T04:45:30.204" v="225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심규상" userId="7c42deb9-6a7f-49c1-bd12-bcc09b0d1268" providerId="ADAL" clId="{CAE6F4ED-B4AD-4EBB-ACF1-9B08D11F9080}" dt="2026-09-06T15:42:21.879" v="1457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3:40:27.474" v="541" actId="20577"/>
          <ac:spMkLst>
            <pc:docMk/>
            <pc:sldMk cId="0" sldId="258"/>
            <ac:spMk id="4" creationId="{00000000-0000-0000-0000-000000000000}"/>
          </ac:spMkLst>
        </pc:spChg>
      </pc:sldChg>
      <pc:sldChg chg="delSp modSp mod">
        <pc:chgData name="심규상" userId="7c42deb9-6a7f-49c1-bd12-bcc09b0d1268" providerId="ADAL" clId="{CAE6F4ED-B4AD-4EBB-ACF1-9B08D11F9080}" dt="2026-09-06T15:42:27.566" v="1458" actId="478"/>
        <pc:sldMkLst>
          <pc:docMk/>
          <pc:sldMk cId="0" sldId="259"/>
        </pc:sldMkLst>
        <pc:spChg chg="del mod">
          <ac:chgData name="심규상" userId="7c42deb9-6a7f-49c1-bd12-bcc09b0d1268" providerId="ADAL" clId="{CAE6F4ED-B4AD-4EBB-ACF1-9B08D11F9080}" dt="2026-09-06T15:42:27.566" v="1458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30:43.899" v="888" actId="20577"/>
          <ac:spMkLst>
            <pc:docMk/>
            <pc:sldMk cId="0" sldId="259"/>
            <ac:spMk id="5" creationId="{00000000-0000-0000-0000-000000000000}"/>
          </ac:spMkLst>
        </pc:spChg>
      </pc:sldChg>
      <pc:sldChg chg="delSp modSp mod ord modNotesTx">
        <pc:chgData name="심규상" userId="7c42deb9-6a7f-49c1-bd12-bcc09b0d1268" providerId="ADAL" clId="{CAE6F4ED-B4AD-4EBB-ACF1-9B08D11F9080}" dt="2026-09-06T15:42:30.053" v="1459" actId="478"/>
        <pc:sldMkLst>
          <pc:docMk/>
          <pc:sldMk cId="0" sldId="260"/>
        </pc:sldMkLst>
        <pc:spChg chg="del">
          <ac:chgData name="심규상" userId="7c42deb9-6a7f-49c1-bd12-bcc09b0d1268" providerId="ADAL" clId="{CAE6F4ED-B4AD-4EBB-ACF1-9B08D11F9080}" dt="2026-09-06T15:42:30.053" v="1459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23:12.881" v="874" actId="20577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심규상" userId="7c42deb9-6a7f-49c1-bd12-bcc09b0d1268" providerId="ADAL" clId="{CAE6F4ED-B4AD-4EBB-ACF1-9B08D11F9080}" dt="2026-09-06T15:42:32.217" v="1460" actId="478"/>
        <pc:sldMkLst>
          <pc:docMk/>
          <pc:sldMk cId="0" sldId="261"/>
        </pc:sldMkLst>
        <pc:spChg chg="del">
          <ac:chgData name="심규상" userId="7c42deb9-6a7f-49c1-bd12-bcc09b0d1268" providerId="ADAL" clId="{CAE6F4ED-B4AD-4EBB-ACF1-9B08D11F9080}" dt="2026-09-06T15:42:32.217" v="1460" actId="478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심규상" userId="7c42deb9-6a7f-49c1-bd12-bcc09b0d1268" providerId="ADAL" clId="{CAE6F4ED-B4AD-4EBB-ACF1-9B08D11F9080}" dt="2026-09-06T15:42:43.411" v="1461" actId="478"/>
        <pc:sldMkLst>
          <pc:docMk/>
          <pc:sldMk cId="0" sldId="262"/>
        </pc:sldMkLst>
        <pc:spChg chg="mod">
          <ac:chgData name="심규상" userId="7c42deb9-6a7f-49c1-bd12-bcc09b0d1268" providerId="ADAL" clId="{CAE6F4ED-B4AD-4EBB-ACF1-9B08D11F9080}" dt="2026-08-24T04:47:05.368" v="966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심규상" userId="7c42deb9-6a7f-49c1-bd12-bcc09b0d1268" providerId="ADAL" clId="{CAE6F4ED-B4AD-4EBB-ACF1-9B08D11F9080}" dt="2026-09-06T15:42:43.411" v="146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3:55:05.761" v="734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5.720" v="968" actId="20577"/>
        <pc:sldMkLst>
          <pc:docMk/>
          <pc:sldMk cId="0" sldId="263"/>
        </pc:sldMkLst>
        <pc:spChg chg="mod">
          <ac:chgData name="심규상" userId="7c42deb9-6a7f-49c1-bd12-bcc09b0d1268" providerId="ADAL" clId="{CAE6F4ED-B4AD-4EBB-ACF1-9B08D11F9080}" dt="2026-08-24T04:47:05.720" v="968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03:12.125" v="814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6.422" v="972" actId="20577"/>
        <pc:sldMkLst>
          <pc:docMk/>
          <pc:sldMk cId="0" sldId="264"/>
        </pc:sldMkLst>
        <pc:spChg chg="mod">
          <ac:chgData name="심규상" userId="7c42deb9-6a7f-49c1-bd12-bcc09b0d1268" providerId="ADAL" clId="{CAE6F4ED-B4AD-4EBB-ACF1-9B08D11F9080}" dt="2026-08-24T04:47:06.422" v="97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03:18.933" v="815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del mod ord">
        <pc:chgData name="심규상" userId="7c42deb9-6a7f-49c1-bd12-bcc09b0d1268" providerId="ADAL" clId="{CAE6F4ED-B4AD-4EBB-ACF1-9B08D11F9080}" dt="2026-08-24T04:31:03.744" v="890" actId="20577"/>
        <pc:sldMkLst>
          <pc:docMk/>
          <pc:sldMk cId="0" sldId="268"/>
        </pc:sldMkLst>
        <pc:spChg chg="mod">
          <ac:chgData name="심규상" userId="7c42deb9-6a7f-49c1-bd12-bcc09b0d1268" providerId="ADAL" clId="{CAE6F4ED-B4AD-4EBB-ACF1-9B08D11F9080}" dt="2026-08-24T04:31:03.744" v="890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4T03:46:05.780" v="476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16:54.177" v="856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5D61D4D0-327B-4818-91D3-779443DEAB67}" type="datetimeFigureOut">
              <a:rPr lang="ko-KR" altLang="en-US" smtClean="0"/>
              <a:pPr/>
              <a:t>2026-09-07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760E060C-6015-46ED-99FF-799FFDC6AB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84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Noto Sans KR" panose="020B0200000000000000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735627" y="1494308"/>
            <a:ext cx="8846773" cy="1468800"/>
          </a:xfrm>
          <a:prstGeom prst="rect">
            <a:avLst/>
          </a:prstGeom>
          <a:ln w="12700">
            <a:solidFill>
              <a:srgbClr val="7C001A"/>
            </a:solidFill>
          </a:ln>
        </p:spPr>
        <p:txBody>
          <a:bodyPr anchor="ctr" anchorCtr="0"/>
          <a:lstStyle>
            <a:lvl1pPr>
              <a:defRPr b="1" i="0" baseline="0">
                <a:solidFill>
                  <a:schemeClr val="tx1"/>
                </a:solidFill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 dirty="0"/>
              <a:t> Click here to Enter Presentation Name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27" name="Picture 3" descr="C:\Users\Jongsoo\Desktop\그림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43" y="-4860"/>
            <a:ext cx="1974851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Jongsoo\Downloads\logo&amp;ui(3)\emblem_03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800480" y="4556234"/>
            <a:ext cx="8781920" cy="8113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 baseline="0">
                <a:solidFill>
                  <a:schemeClr val="tx1"/>
                </a:solidFill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enter author or presenter’s name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2800351" y="3013745"/>
            <a:ext cx="8782049" cy="5676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 baseline="0"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describe paper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C:\Users\Jongsoo\Downloads\logo&amp;ui(3)\emblem_03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연결선 4"/>
          <p:cNvCxnSpPr/>
          <p:nvPr userDrawn="1"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 userDrawn="1"/>
        </p:nvSpPr>
        <p:spPr>
          <a:xfrm>
            <a:off x="619843" y="3242935"/>
            <a:ext cx="2362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ea typeface="Noto Sans KR" panose="020B0200000000000000" pitchFamily="50" charset="-127"/>
              </a:rPr>
              <a:t>https://nmlab.korea.ac.kr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3013744"/>
            <a:ext cx="1976495" cy="25516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863852" y="5367556"/>
            <a:ext cx="878204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Network Management Lab.,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Dept., of Computer and Information Science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Korea University, Korea</a:t>
            </a:r>
            <a:endParaRPr lang="ko-KR" altLang="en-US" sz="1400" b="1" i="1" dirty="0">
              <a:solidFill>
                <a:srgbClr val="595959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1133" y="925512"/>
            <a:ext cx="10972800" cy="5634051"/>
          </a:xfrm>
          <a:prstGeom prst="rect">
            <a:avLst/>
          </a:prstGeom>
        </p:spPr>
        <p:txBody>
          <a:bodyPr/>
          <a:lstStyle>
            <a:lvl1pPr marL="365760" indent="-365760">
              <a:lnSpc>
                <a:spcPct val="100000"/>
              </a:lnSpc>
              <a:buClr>
                <a:srgbClr val="951B39"/>
              </a:buClr>
              <a:buFont typeface="Wingdings" panose="05000000000000000000" pitchFamily="2" charset="2"/>
              <a:buChar char="q"/>
              <a:defRPr sz="2000" b="1" baseline="0">
                <a:solidFill>
                  <a:srgbClr val="951B39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742950" indent="-247650">
              <a:lnSpc>
                <a:spcPct val="100000"/>
              </a:lnSpc>
              <a:buFont typeface="Wingdings" panose="05000000000000000000" pitchFamily="2" charset="2"/>
              <a:buChar char="§"/>
              <a:defRPr sz="18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3pPr>
            <a:lvl4pPr marL="1422400" indent="-168275">
              <a:lnSpc>
                <a:spcPct val="100000"/>
              </a:lnSpc>
              <a:buFont typeface="Arial" panose="020B0604020202020204" pitchFamily="34" charset="0"/>
              <a:buChar char="−"/>
              <a:defRPr sz="14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200" baseline="0">
                <a:solidFill>
                  <a:schemeClr val="bg1">
                    <a:lumMod val="50000"/>
                  </a:schemeClr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968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cxnSp>
        <p:nvCxnSpPr>
          <p:cNvPr id="7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Date Placeholder 7"/>
          <p:cNvSpPr>
            <a:spLocks noGrp="1"/>
          </p:cNvSpPr>
          <p:nvPr>
            <p:ph type="dt" sz="half" idx="10"/>
          </p:nvPr>
        </p:nvSpPr>
        <p:spPr>
          <a:xfrm>
            <a:off x="203200" y="6570677"/>
            <a:ext cx="13970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1303000" y="6570677"/>
            <a:ext cx="6858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0996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2819400"/>
            <a:ext cx="10363200" cy="1362075"/>
          </a:xfrm>
          <a:prstGeom prst="rect">
            <a:avLst/>
          </a:prstGeom>
        </p:spPr>
        <p:txBody>
          <a:bodyPr anchor="b" anchorCtr="0"/>
          <a:lstStyle>
            <a:lvl1pPr algn="l">
              <a:defRPr sz="2800" b="1" cap="all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4291014"/>
            <a:ext cx="10363200" cy="150018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800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8888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59B54-3D99-4AA5-A437-2608DE7E9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973"/>
            <a:ext cx="9144000" cy="2197486"/>
          </a:xfrm>
        </p:spPr>
        <p:txBody>
          <a:bodyPr anchor="b">
            <a:normAutofit/>
          </a:bodyPr>
          <a:lstStyle>
            <a:lvl1pPr algn="ctr">
              <a:defRPr lang="ko-KR" altLang="en-US" sz="2800" b="1" i="0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4A7191-39C9-44C8-82E8-5486E8D28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5652"/>
            <a:ext cx="9144000" cy="756154"/>
          </a:xfrm>
        </p:spPr>
        <p:txBody>
          <a:bodyPr>
            <a:normAutofit/>
          </a:bodyPr>
          <a:lstStyle>
            <a:lvl1pPr marL="0" indent="0" algn="ctr">
              <a:buNone/>
              <a:defRPr lang="ko-KR" altLang="en-US" sz="2000" i="0" baseline="0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1524000" y="409420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364FC36-B7FD-4EC6-B825-AA109186CA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3999" y="4357816"/>
            <a:ext cx="9143999" cy="1606378"/>
          </a:xfrm>
        </p:spPr>
        <p:txBody>
          <a:bodyPr>
            <a:normAutofit/>
          </a:bodyPr>
          <a:lstStyle>
            <a:lvl1pPr marL="0" indent="0" algn="r">
              <a:buNone/>
              <a:defRPr lang="ko-KR" altLang="en-US" sz="1800" b="1" baseline="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고려대학교 세종캠퍼스</a:t>
            </a:r>
            <a:endParaRPr lang="en-US" altLang="ko-KR" dirty="0"/>
          </a:p>
          <a:p>
            <a:pPr lvl="0"/>
            <a:r>
              <a:rPr lang="ko-KR" altLang="en-US" dirty="0"/>
              <a:t>네트워크 관리 연구실</a:t>
            </a:r>
            <a:endParaRPr lang="en-US" altLang="ko-KR" dirty="0"/>
          </a:p>
          <a:p>
            <a:pPr lvl="0"/>
            <a:r>
              <a:rPr lang="ko-KR" altLang="en-US" dirty="0"/>
              <a:t>유경민</a:t>
            </a:r>
            <a:endParaRPr lang="en-US" altLang="ko-KR" dirty="0"/>
          </a:p>
          <a:p>
            <a:pPr lvl="0"/>
            <a:r>
              <a:rPr lang="en-US" altLang="ko-KR" dirty="0"/>
              <a:t>rudals2710@korea.ac.kr</a:t>
            </a:r>
            <a:endParaRPr lang="ko-KR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5DC049A-FCAF-8E3F-A2F2-4C8197323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6216485"/>
            <a:ext cx="2823364" cy="47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229B8D-A5C6-193F-02B4-AFE9534C0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9174450" y="6165804"/>
            <a:ext cx="1493548" cy="5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77" y="369169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228600" indent="-2880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342611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00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448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rgbClr val="056AE8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256" y="355890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32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Q&amp;A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8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18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Thank you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133198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203200" y="6570677"/>
            <a:ext cx="13970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2889541" y="6570677"/>
            <a:ext cx="64262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303000" y="6570677"/>
            <a:ext cx="6858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78" r:id="rId4"/>
  </p:sldLayoutIdLst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476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4D4D4D"/>
          </a:solidFill>
          <a:latin typeface="+mn-lt"/>
        </a:defRPr>
      </a:lvl2pPr>
      <a:lvl3pPr marL="108585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4D4D4D"/>
          </a:solidFill>
          <a:latin typeface="+mn-lt"/>
        </a:defRPr>
      </a:lvl3pPr>
      <a:lvl4pPr marL="1422400" indent="-1682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rgbClr val="4D4D4D"/>
          </a:solidFill>
          <a:latin typeface="+mn-lt"/>
        </a:defRPr>
      </a:lvl4pPr>
      <a:lvl5pPr marL="17780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5pPr>
      <a:lvl6pPr marL="22352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6pPr>
      <a:lvl7pPr marL="26924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7pPr>
      <a:lvl8pPr marL="31496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8pPr>
      <a:lvl9pPr marL="36068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E0C55C-36F2-4F7B-A544-953E87E2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C7B68-1D9C-41AC-8B28-A1D681CD5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0E4E8C-F7AA-4061-A796-B3F5B2123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B95D4-4DAF-4C3E-A51B-A9008BA09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849F5-018E-461E-8A22-00C859E5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9DF33CAF-42AD-4023-A233-E8C66A7A99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32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60" r:id="rId4"/>
    <p:sldLayoutId id="2147483682" r:id="rId5"/>
    <p:sldLayoutId id="214748368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암호화 멀티프로바이더·멀티모델 LLM 트래픽</a:t>
            </a:r>
          </a:p>
          <a:p>
            <a:r>
              <a:t>Reasoning Effort 탐지 — 연구 설계 (전체)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Detecting Reasoning Effort in Encrypted AI Service Traffic — 편집용 초안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고려대학교 세종캠퍼스 / 네트워크 관리 연구실 / 학부연구생 심규상 / cole0213@korea.ac.kr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1.  전제 · 스트리밍 가시성 · 핵심 가설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2.  연구 질문 (RQ)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3.  연구 배경    4.  연구 동기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5.  문제 정의 · Task A/B/C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6.  Configured vs Realized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7.  데이터셋 설계    8.  모델 구성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9.  Prompt    10. App Log    11. Network Log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12. 수집 순서 · Segmentation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13. Network Feature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14. Provider 통제 · Within-Provider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15. Model ID    16. Cross-Model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17. Baseline    18. Proposed    19. Multi-task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20. Paired    21. Eval    22. Generalization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23. Early    24. Confound    25. Ablation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26. 관련연구  27. Contribution  28. 발표구성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29. 핵심 문제    30. 최종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반드시 바로잡아야 하는 전제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Gemini thinking을 'no_think=reasoning OFF'로 단순 해석 말 것 — 모델·API 버전별 지원 level·동작 다름. 정확한 model ID 기준 공식문서 확인.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공통 주 실험은 서비스 설정을 OFF/ON 통일하지 않고 Low reasoning vs High reasoning으로 통일.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minimal/medium/OFF 등은 서비스·모델별 지원 여부가 달라 부가 실험으로.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서비스별 설정: GPT=reasoning effort / Claude=effort·adaptive / Gemini=thinking level / Grok=reasoning effort. 실험 전 공식 API로 검증.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사람이 읽는 model name과 실제 API model ID/snapshot은 분리 저장(provider/model/model_version).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1-A. 스트리밍 가시성 — 신호 구조 결정 1차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reasoning token이 클라이언트로 스트리밍되는지가 관측 신호 구조 전체를 결정 → provider를 3그룹으로 먼저 분류, 핵심 분석을 그룹별로.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(A) Hidden: 생각 구간 downlink 없음(idle gap) → 신호가 TTFA로 수렴, packet sequence 이득 적음.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(B) Streamed: 생각 텍스트 실시간 패킷 → sequence가 TTFA 초과 정보 가질 수 있음.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(C) Summary-only: 요약만 일부 전송. A와 B 중간.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provider별 잠정 분류(2026-09-08 공식문서, 실측 재검증 필요):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OpenAI GPT-5.6 Sol/Terra/Luna: reasoning.effort none~max — raw 은닉 → A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Claude Opus 4.7/4.8·Sonnet5·Fable5·Haiku5: effort low~xhigh(Claude5 adaptive-only) — thinking 스트리밍(요약) → B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Gemini Pro/Flash: thinkingLevel+includeThoughts — on=B / off=A (가변)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Grok grok-4.6: reasoning_effort — summary delta 스트리밍 → B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성립조건: 그룹 B라도 추론시간&lt;지터면 소멸. 캡처 설정이 트래픽을 바꿈 → 프로토콜에 고정.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1-B. 핵심 가설 (thesis)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reasoning effort는 무조건 누출되지 않는다 — 스트리밍 그룹(A/B/C)+인프라 속도(추론시간 vs 지터) 조건 하에서만 관측 패턴 생성.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명제 = '어떤 조건에서 얼마나 트래픽에 누출되는지, 그 경계를 체계적으로 특성화한다'(경계지도).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RQ2·§17·문제8의 'packet sequence &gt; TTFA'는 절대명제 아니라 그룹별 조건부 주장.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그룹 A·초고속 인프라의 TTFA 수렴/소멸 = 반증 아니라 경계지도의 일부(정상 결과).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→ §17 옛 목표는 이 조건부의 특수사례로 흡수 → §1-A와 충돌 해소.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1-C. 분석 대상 모델 (provider별 그룹)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Claude: Opus 4.8 / Opus 4.7 / Sonnet 5 / Haiku 5 / Fable 5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GPT (OpenAI): Sol / Luna / Terra (GPT-5.6 계열)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Gemini: Gemini Pro / Gemini Flash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Grok (xAI): 최신 reasoning 모델(grok-4.6) — 실험 전 정확 model ID 확정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정확한 model ID/snapshot은 실제 API 응답서 확인·저장. 이름만 보고 추측 금지.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데이터셋 필수 필드: provider / model / model_version.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연구 질문 (RQ)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RQ1. 동일 모델·동일 프롬프트서도 low/high effort가 구별되는 네트워크 패턴을 만드나?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RQ2. effort를 가장 잘 나타내는 신호는? TTFA·duration·packet size·IAT·direction·burst·packet sequence.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주의: 신호가 TTFA를 넘어서는지는 스트리밍 그룹별로 달라짐. RQ2는 그룹별로 답한다.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RQ3. 새 prompt/날짜/네트워크 환경에도 일반화되나?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RQ4. 서로 다른 서비스·모델 간 탐지 성능 차이는?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RQ5. 한 모델서 학습한 탐지기가 미학습 모델서도 되나? (cross-model)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RQ6. 응답 완료 전 얼마나 일찍 판단 가능한가? (early detection)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기존 LLM은 직접 output generation 중심. 최근 reasoning-capable LLM은 답변 전 추가 inference-time computation 사용.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test-time compute는 수학·코딩·논리·계획 등 복잡한 문제서 성능 향상에 활용.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모든 요청에 동일 계산량은 비효율 → 난도·품질 요구에 맞는 reasoning effort가 중요.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짧은 reasoning: 낮은 latency·낮은 토큰 비용·낮은 GPU 계산량·높은 처리량.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긴 reasoning: 수학·코딩·논리·계획·복잡 문서 분석·다단계 문제 해결.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본 연구: 이 effort 차이가 TLS 암호화 트래픽서도 관찰 가능한 패턴을 만드는지 분석.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연구 동기 (두 가지로 제한)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4.1 서비스 운영 및 자원 관리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긴 추론 조기 식별 시: admission control·QoS·latency prediction·GPU scheduling·prioritization·resource allocation 활용 가능성.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특히 전체 응답 후가 아니라 최초 N패킷/최초 T초만으로 판단 가능한지 평가.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4.2 AI 서비스 동작 특성 분석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동일 모델서도 effort 설정에 따라 inference-time computation이 달라짐 → 내부 추론 수준과 외부 관측값 관계 연구.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중요: 프라이버시 침해·정보 유출·사용자 행태 추론을 동기나 핵심 contribution으로 쓰지 말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문제 정의 · 세 가지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트래픽 X = {(d_i, l_i, Δt_i)}, i=1..N. d=방향, l=패킷/TLS record 길이, Δt=IAT, N=패킷 수.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Task A — Configured Effort Detection: f(X)→{Low,High}. label=API effort 설정값.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Task B — Realized Reasoning Estimation: g(X)→reasoning token 수(회귀). label=API usage 실제 thinking token.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Task C — Model Identification: h(X)→model. 목적=모델 fingerprint 세기 측정.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Task A와 C를 분리해, effort 탐지기가 단순 모델 fingerprint를 쓰는지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5-B. Task A 프레이밍 — configured 복원가능성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대상 모델 모두 effort/level 노브 보유 → configured effort(low/high)를 label로 쓰며 전부 Task A 포함.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configured=High인데 트래픽이 low 모양인 경우는 '오염 label'이 아니라 참인 결과.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Task A = '설정을 트래픽에서 복원할 수 있는가'를 잼. adaptive 모델이 High를 실제 계산으로 안 옮기면 안 새는 게 맞음.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Task A(configured) vs Task B(realized) 성능 gap 자체가 finding = '모델이 요청 effort를 얼마나 안 따르나'.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realized 로그로 분리: (1)High·realized low=모델이 안 생각함 (2)High·realized high·트래픽 평평=side-channel 실패.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→ Task A 정확도를 'reasoning 탐지 성능'으로 직결 말고 configured 복원가능성으로 명명, Task B와 병기.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Configured Effort vs Realized Reasoning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Configured Effort: Low / High.   Realized Reasoning: Short / Medium / Long.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High 설정이라고 항상 실제 reasoning token이 많은 것은 아님.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실제 token 분포는 모델·서비스별 계산. 가능 정의: 하위25%=Short, 중간50%=Medium, 상위25%=Long.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tokenization 차이 고려 → 절대 token 수 무조건 비교 금지, 정규화 분석도.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configured label 신뢰도는 provider마다 다름. adaptive 계열은 Task A+Task B 병행, 괴리 크면 realized 우선.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데이터셋 설계 · 유효 표본 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용어: service(provider)=Claude/GPT/Gemini/Grok=4개. model=provider별 개별 모델 합계 M개. 곱셈 단위는 model.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현재 §8 기준 M=11 (Claude 5 + GPT 3 + Gemini 2 + Grok 1). 모델 추가 시 M 갱신.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파일럿: 100 prompts × M × 2 efforts × 3 repeats = (M=11) 6,600 sessions.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본 실험: 500 prompts × M × 2 efforts × 5 repeats = (M=11) 55,000 sessions.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주의(급소4): group split(prompt_id)이라 독립 단위는 세션 수 아니라 프롬프트 수. '세션 수' 부풀리기 금지.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cross-model은 leave-one-model-out 시 사실상 N=모델수 → power 약함. 여력껏 모델 개수 늘리기, 부족하면 탐색적 표기.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반복은 여러 날짜·시간대 분산. 비용 부족 시 핵심모델 주실험+나머지 축소(paired 구조 유지).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모델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데이터셋 필수 필드: provider / model / model_version.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Claude: Opus 4.8 / Opus 4.7 / Sonnet 5 / Haiku 5 / Fable 5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GPT (OpenAI): Sol / Luna / Terra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Gemini: Gemini Pro / Gemini Flash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Grok (xAI): grok-4.6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정확한 model ID/snapshot은 실제 API 응답서 확인·저장. 이름만 보고 추측 금지.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Prompt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유형(최소): 단순 사실·산술·논리·수학·코딩·계획·장문 문맥.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주 실험은 출력 길이 통제 위해 '정답만 A/B/C/D 중 하나로 출력' 객관식/단답형 적극 사용.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별도 현실성 실험은 자유 생성 응답 사용.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프롬프트마다 난도·입력 길이·예상 reasoning complexity·출력 형식 기록.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Application Log (세션별)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session_id · request_id · provider · model · model_version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prompt_id · prompt_category · prompt_difficulty · effort_setting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realized_reasoning_tokens · input_tokens · output_tokens · cached_tokens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request_start_time · first_answer_time · ttfa_ms · duration_ms · response_length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correct · error · retry · rate_limit · SDK version · API version · endpoint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realized_reasoning_tokens와 ttfa는 ground-truth 검증·baseline의 핵심.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Network Log (PCAP 추출)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packet direction · packet length · TLS record length · inter-arrival time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TCP/UDP · HTTP/2/QUIC · burst · connection start/end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TLS handshake · connection reuse · RTT · packet loss · jitter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API 내부 측정 TTFA는 network model의 직접 입력 feature와 분리.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TTFA는 ground-truth validation·baseline 용도로만 사용.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데이터 수집 순서 ·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조건 몰아 수집 금지(Low 전체→High 전체 등) — 시간대·서버 부하·네트워크 상태가 label과 결합.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job 먼저 생성 후 randomization. provider×model×prompt×effort를 block randomization/Latin-square로 배치.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Segmentation(급소6): HTTP/2·QUIC multiplexing·connection reuse로 요청 경계 긋기 어려움 → 오분할 시 label 오염.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주 실험: 요청 1개당 새 연결 강제(reuse 차단).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현실성 실험: reuse 허용, idle-gap 등 timing heuristic으로 자르고 오분할률 함께 보고.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두 환경 성능 차이를 '통제 vs 현실' 간극으로 정직하게 제시.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Network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Sequence Features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각 패킷: [sign(len), log(1+|len|), log(1+IAT)] 등.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signed packet length·direction·IAT·burst·consecutive same-direction·first N packets·first T seconds.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Statistical Features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duration·TTFA·packet count·up/down packet count·byte count·mean IAT·IAT std·IAT percentiles.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burst count·average burst size·maximum idle time·packet rate·byte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Provider/Model 정보 통제 · Within-Provider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IP·SNI·certificate·domain은 provider/model을 쉽게 노출 → 두 환경 분리.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Known: 정보 아는 상황. Unknown: 관련 feature 제거, packet sequence만. 두 조건 성능 차 비교.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Within-Provider(급소5): SNI/IP 빼도 packet size 분포·TLS record·chunk가 인프라 지문이라 sequence에 녹아듦.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→ Task A가 '모델 알아맞히고 사전확률로 effort 찍기'(Task C 부산물)일 수 있음.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필수: 같은 provider(가능하면 같은 model) 안에서만 Low vs High 성능 별도 측정 = 진짜 reasoning 신호 증거.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adversarial training(gradient reversal)은 보조, within-provider 성능을 주 증거로.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Model Identification (Task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입력=encrypted traffic, 출력=model identity.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예: Claude Opus 4.8/4.7·Sonnet5·Haiku5·Fable5 · GPT-5.6 Sol/Terra/Luna · Gemini Pro/Flash · Grok grok-4.6.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목적: 모델 자체의 traffic fingerprint가 얼마나 강한지 확인.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중요: Model Identification 성능과 Reasoning Effort Detection 성능을 동일 취급 말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Cross-Model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특정 모델 fingerprint를 외운 게 아닌지 확인 → leave-one-model-out.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예) Train: Sonnet5·Opus4.8·Gemini Flash·Gemini Pro / Test: Fable5.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예) Train: Sonnet5 + Gemini Pro / Test: Opus4.8.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새 모델서도 Low/High reasoning을 탐지할 수 있는지 평가.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(급소4) 모델 수 적으면 결론은 탐색적으로, per-model 편차 보고.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모델 설계 — 필수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TTFA threshold · duration threshold · Logistic Regression · Random Forest · XGBoost.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1D-CNN · GRU/BiLSTM · TCN · Transformer Encoder.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특히 TTFA-only baseline 반드시 포함.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목표: 'High가 오래 걸려 맞혔다'가 아니라 packet-level temporal pattern이 추가 정보를 준다는 것.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단, 그룹별로 갈림(§1-B): Streamed/Summary-only서 'sequence&gt;TTFA' 검증, Hidden서는 'TTFA가 상한'임을 보이는 것이 결과.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Proposed Model (2-branch fusion)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Sequence Branch: 입력 [direction, packet size, IAT]. TCN 또는 Transformer Encoder.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Statistical Branch: duration·packet count·byte count·IAT stats·burst stats·packet rate. MLP.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두 branch representation을 fusion.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Prediction head: ① Effort Classification ② Reasoning Token Regression ③ Model Classification.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필요 시 provider/model 정보 제거 또는 adversarial training 적용.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Multi-task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L = L_CE + λ_t·L_Huber + λ_m·L_Model + λ_r·L_Rank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CE: Low/High classification.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Huber: reasoning token regression.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Model loss: model identification.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Ranking loss: 동일 prompt서 High의 predicted reasoning score가 Low보다 높도록 유도.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동일 prompt paired-ranking의 타당성을 검토.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Paired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같은 prompt를 동일 모델에 입력하되 effort만 변경(Same Prompt·Model·Output Format, Low vs High).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prompt-specific traffic variation을 최소화.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가능하면 동일 prompt의 Low/High 실행을 하나의 pair로 관리.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주요 지표: Macro-F1 · Balanced Accuracy · AUROC · AUPRC · reasoning-token MAE · Spearman correlation.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클래스 균형이면 Macro-F1을 주요 지표로.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불균형 환경에선 AUPRC도 보고.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Generalization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① Random ② Cross-Prompt ③ Cross-Category ④ Cross-Day ⑤ Cross-Network ⑥ Cross-Provider ⑦ Cross-Model ⑧ Cross-Version.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가장 중요한 원칙: 동일 prompt 반복 실행을 train/test에 섞지 말 것.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반드시 prompt_id 기준 Group Split 사용.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Early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패킷 시점: F1 @ 8 / 16 / 32 / 64 packets.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시간 시점: F1 @ 0.5 / 1 / 2 / 3 sec.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추가 보고: detection latency · lead time · early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Confounding Variable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output-token 수 통제 · prompt length 통제 · 짧은 고정 output · cached request 제거.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TTFA-only · duration-only · packet-size-only · timing-only · packet-size+timing · full sequence.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provider 정보 포함/제외 · model 정보 포함/제외 · random label sanity check.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TTFA baseline 대비 full sequence 이득은 스트리밍 그룹별로 검증(§1-B):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Streamed/Summary-only: full sequence가 TTFA-only보다 유의하게 우수한지(문제8 통계검정).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Hidden: full sequence가 TTFA로 수렴하는지='TTFA가 상한'인지 확인. '항상 우수'로 목표 걸지 않음.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모델별 사용 feature(Packet Size/Timing/Direction/Burst/TTFA) 조합으로 F1 표를 채운다: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Logistic Regression: Packet Size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Random Forest: Packet Size + Timing + Direction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TCN: Packet Size + Timing + Direction + Burst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Transformer: Packet Size + Timing + Direction + Burst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Proposed: Packet Size + Timing + Direction + Burst + TTFA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실제 논문에서는 이 표를 채우도록 실험을 구체화한다.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관련 연구 (gap 정리)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대상: Scaling LLM Test-Time Compute · What Was Your Prompt? · LLMs Have Rhythm · When Speculation Spills Secrets · The Early Bird · Whisper Leak · PromptEcho · Rosetta · ET-BERT.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각 논문: ①무엇을 탐지 ②어떤 network/application signal ③본 연구와 차이 ④어떤 실험 설계에 참고.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'최초의 연구' 표현은 체계적 문헌조사 전까지 쓰지 않는다.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상세 검증 인용은 별도 문서 '연구 배경·관련연구·목적 정리' 참조.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논문 Contribution 후보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1. Multi-provider/Multi-model encrypted AI traffic dataset 구축.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2. Configured effort와 realized reasoning token을 분리한 dual ground truth.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3. 동일 prompt paired comparison 기반 reasoning-effort detection.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4. 다양한 모델의 reasoning traffic 특성 비교.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5. Cross-prompt/day/network/provider/model generalization.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6. 초기 packet sequence 기반 early reasoning-effort detection.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7. Packet size/timing/burst/duration feature ablation.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발표자료 구성 (순서)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배경 → AI reasoning model 등장 → Short vs Long reasoning → 연구 문제 → 연구 목표 → RQ.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AI 서비스·모델 → Configured vs Realized → Dataset Collection → App Log+PCAP → Network Features.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Model Identification → Reasoning Effort Detection → Baselines → Proposed Model → Evaluation.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Cross-Model → Early Detection → Ablation → Related Work → Research Gap.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Expected Contributions → Limitations →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반드시 검토할 핵심 문제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문제1. Low/High 차이가 실제 reasoning 때문인지 단순 duration 차이인지 어떻게 증명?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문제2. 모델마다 traffic fingerprint가 다른데 reasoning effort를 제대로 분리 가능한가?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문제3. 같은 prompt 반복 시 prompt-specific pattern 암기 가능성 → 어떻게 방지?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문제4. jitter·RTT·packet loss가 reasoning label과 결합되지 않게 어떻게 통제?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문제5. 모델 version 변경 시 기존 탐지기 미작동 가능성 → 어떻게 평가?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반드시 검토할 핵심 문제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문제6. realized token과 configured effort가 다를 때 ground truth를 어떻게 정의?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문제7. 실제 reasoning 과정이 아니라 단순 token generation rate 탐지일 가능성 → 어떻게 검증?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문제8. TTFA-only baseline보다 packet sequence model이 정말 추가 정보를 얻는지 통계적으로 검증?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문제9. cross-model generalization이 실제 가능한가, 불가능하면 contribution을 어떻게 수정?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문제10. 데이터셋 규모가 충분한가 — 모델 수·prompt 수 고려한 power/significance 검토.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30. 최종적으로 원하는 결과 (산출물 목록)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핵심 가설 · 독립/종속변수 · dataset schema · 데이터 수집 pipeline · PCAP-API log 동기화.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prompt dataset 구성 · 모델별 실험 구성 · baseline · proposed architecture · train/val/test split.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cross-model evaluation · early detection protocol · ablation · statistical significance test.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예상 결과표 · 예상 figure 목록 · 논문 목차 · novelty 약화 지점 · 강화용 추가 실험 · 단계별 개발 계획.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심사자 관점서 가장 공격받기 쉬운 부분을 찾아 수정안까지 제시. 최신 모델·API 설정은 공식문서로 사실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default">
  <a:themeElements>
    <a:clrScheme name="사용자 지정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27D34"/>
      </a:hlink>
      <a:folHlink>
        <a:srgbClr val="627D34"/>
      </a:folHlink>
    </a:clrScheme>
    <a:fontScheme name="NM LAB">
      <a:majorFont>
        <a:latin typeface="Arial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1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F07800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2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3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CC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4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0099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윾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M LAB">
      <a:majorFont>
        <a:latin typeface="Arial Black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1E59A097A16364E89ECD49717FB6436" ma:contentTypeVersion="4" ma:contentTypeDescription="새 문서를 만듭니다." ma:contentTypeScope="" ma:versionID="c3a1868f3210500bb77359d86272c374">
  <xsd:schema xmlns:xsd="http://www.w3.org/2001/XMLSchema" xmlns:xs="http://www.w3.org/2001/XMLSchema" xmlns:p="http://schemas.microsoft.com/office/2006/metadata/properties" xmlns:ns3="d0cc5d05-5f99-41c0-b610-32cc205160b0" targetNamespace="http://schemas.microsoft.com/office/2006/metadata/properties" ma:root="true" ma:fieldsID="4735c579ec85658d2737b358020fe39a" ns3:_="">
    <xsd:import namespace="d0cc5d05-5f99-41c0-b610-32cc205160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cc5d05-5f99-41c0-b610-32cc205160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ED3D9-1CB3-4D43-8166-1AE30A265E9D}">
  <ds:schemaRefs>
    <ds:schemaRef ds:uri="http://schemas.microsoft.com/office/2006/documentManagement/types"/>
    <ds:schemaRef ds:uri="http://schemas.microsoft.com/office/infopath/2007/PartnerControls"/>
    <ds:schemaRef ds:uri="d0cc5d05-5f99-41c0-b610-32cc205160b0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810D661-B216-40A4-8CD1-843F44ECC2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BE3C24-1F7B-485E-BB1F-27BB2F5C2F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cc5d05-5f99-41c0-b610-32cc205160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78001</TotalTime>
  <Words>1322</Words>
  <Application>Microsoft Office PowerPoint</Application>
  <PresentationFormat>와이드스크린</PresentationFormat>
  <Paragraphs>117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Noto Sans KR</vt:lpstr>
      <vt:lpstr>Arial</vt:lpstr>
      <vt:lpstr>Roboto</vt:lpstr>
      <vt:lpstr>Wingdings</vt:lpstr>
      <vt:lpstr>3_default</vt:lpstr>
      <vt:lpstr>Office 테마</vt:lpstr>
      <vt:lpstr>암호화 트래픽으로 LLM 추론 깊이 식별</vt:lpstr>
      <vt:lpstr>목차</vt:lpstr>
      <vt:lpstr>1. 배경 ① — LLM의 진화</vt:lpstr>
      <vt:lpstr>2. 배경 ② — 암호화 트래픽의 현실</vt:lpstr>
      <vt:lpstr>3. 이런 트래픽의 특성 — 무엇이 보이나</vt:lpstr>
      <vt:lpstr>4. 기존 연구의 빈틈</vt:lpstr>
      <vt:lpstr>5. 문제가 될 수 있는 점 — 왜 위협인가</vt:lpstr>
      <vt:lpstr>6. 연구 목적</vt:lpstr>
      <vt:lpstr>7. 연구 주제 · 식별 계층</vt:lpstr>
      <vt:lpstr>8. 왜 '추론 깊이'인가</vt:lpstr>
      <vt:lpstr>9. 연구 방법 · 설계</vt:lpstr>
      <vt:lpstr>10. 기대 효과 · 의의</vt:lpstr>
      <vt:lpstr>11. 향후 계획 · 로드맵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helpnara</dc:creator>
  <cp:lastModifiedBy>심규상</cp:lastModifiedBy>
  <cp:revision>659</cp:revision>
  <cp:lastPrinted>2025-12-04T01:24:38Z</cp:lastPrinted>
  <dcterms:created xsi:type="dcterms:W3CDTF">2016-08-13T04:33:54Z</dcterms:created>
  <dcterms:modified xsi:type="dcterms:W3CDTF">2026-09-06T15:42:47Z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0x01010091E59A097A16364E89ECD49717FB6436</vt:lpwstr>
  </property>
</Properties>
</file>