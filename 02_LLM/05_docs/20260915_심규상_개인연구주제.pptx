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48" r:id="rId5"/>
  </p:sldMasterIdLst>
  <p:notesMasterIdLst>
    <p:notesMasterId r:id="rId12"/>
  </p:notesMasterIdLst>
  <p:sldIdLst>
    <p:sldId id="319" r:id="rId6"/>
    <p:sldId id="320" r:id="rId7"/>
    <p:sldId id="321" r:id="rId8"/>
    <p:sldId id="322" r:id="rId9"/>
    <p:sldId id="323" r:id="rId10"/>
    <p:sldId id="3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75DA1"/>
    <a:srgbClr val="A7B5DB"/>
    <a:srgbClr val="DAEAFE"/>
    <a:srgbClr val="ABC5E3"/>
    <a:srgbClr val="056AE8"/>
    <a:srgbClr val="CC99FF"/>
    <a:srgbClr val="E5EFF9"/>
    <a:srgbClr val="ED7D31"/>
    <a:srgbClr val="3A5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D8082-F0CF-4753-A01C-F9D53506BA8D}" v="56" dt="2026-09-21T04:13:35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7" autoAdjust="0"/>
    <p:restoredTop sz="85212" autoAdjust="0"/>
  </p:normalViewPr>
  <p:slideViewPr>
    <p:cSldViewPr snapToGrid="0">
      <p:cViewPr varScale="1">
        <p:scale>
          <a:sx n="95" d="100"/>
          <a:sy n="95" d="100"/>
        </p:scale>
        <p:origin x="1194" y="84"/>
      </p:cViewPr>
      <p:guideLst>
        <p:guide orient="horz" pos="1638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56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심규상" userId="7c42deb9-6a7f-49c1-bd12-bcc09b0d1268" providerId="ADAL" clId="{CAE6F4ED-B4AD-4EBB-ACF1-9B08D11F9080}"/>
    <pc:docChg chg="addSld modSld">
      <pc:chgData name="심규상" userId="7c42deb9-6a7f-49c1-bd12-bcc09b0d1268" providerId="ADAL" clId="{CAE6F4ED-B4AD-4EBB-ACF1-9B08D11F9080}" dt="2026-09-21T04:13:37.989" v="1353" actId="113"/>
      <pc:docMkLst>
        <pc:docMk/>
      </pc:docMkLst>
      <pc:sldChg chg="modSp">
        <pc:chgData name="심규상" userId="7c42deb9-6a7f-49c1-bd12-bcc09b0d1268" providerId="ADAL" clId="{CAE6F4ED-B4AD-4EBB-ACF1-9B08D11F9080}" dt="2026-09-15T03:19:58.845" v="10"/>
        <pc:sldMkLst>
          <pc:docMk/>
          <pc:sldMk cId="2019436167" sldId="319"/>
        </pc:sldMkLst>
        <pc:spChg chg="mod">
          <ac:chgData name="심규상" userId="7c42deb9-6a7f-49c1-bd12-bcc09b0d1268" providerId="ADAL" clId="{CAE6F4ED-B4AD-4EBB-ACF1-9B08D11F9080}" dt="2026-09-15T03:19:58.845" v="10"/>
          <ac:spMkLst>
            <pc:docMk/>
            <pc:sldMk cId="2019436167" sldId="319"/>
            <ac:spMk id="2" creationId="{DB6214A1-6A3F-613D-75C7-AD5F0DE4F308}"/>
          </ac:spMkLst>
        </pc:spChg>
      </pc:sldChg>
      <pc:sldChg chg="modSp mod">
        <pc:chgData name="심규상" userId="7c42deb9-6a7f-49c1-bd12-bcc09b0d1268" providerId="ADAL" clId="{CAE6F4ED-B4AD-4EBB-ACF1-9B08D11F9080}" dt="2026-09-21T04:09:45.785" v="1120" actId="20577"/>
        <pc:sldMkLst>
          <pc:docMk/>
          <pc:sldMk cId="1561753138" sldId="320"/>
        </pc:sldMkLst>
        <pc:spChg chg="mod">
          <ac:chgData name="심규상" userId="7c42deb9-6a7f-49c1-bd12-bcc09b0d1268" providerId="ADAL" clId="{CAE6F4ED-B4AD-4EBB-ACF1-9B08D11F9080}" dt="2026-09-21T04:09:45.785" v="1120" actId="20577"/>
          <ac:spMkLst>
            <pc:docMk/>
            <pc:sldMk cId="1561753138" sldId="320"/>
            <ac:spMk id="3" creationId="{5C1EAE69-E405-C098-B616-51CABBBC3165}"/>
          </ac:spMkLst>
        </pc:spChg>
      </pc:sldChg>
      <pc:sldChg chg="modSp mod">
        <pc:chgData name="심규상" userId="7c42deb9-6a7f-49c1-bd12-bcc09b0d1268" providerId="ADAL" clId="{CAE6F4ED-B4AD-4EBB-ACF1-9B08D11F9080}" dt="2026-09-20T11:56:15.768" v="666" actId="20577"/>
        <pc:sldMkLst>
          <pc:docMk/>
          <pc:sldMk cId="3525154852" sldId="321"/>
        </pc:sldMkLst>
        <pc:spChg chg="mod">
          <ac:chgData name="심규상" userId="7c42deb9-6a7f-49c1-bd12-bcc09b0d1268" providerId="ADAL" clId="{CAE6F4ED-B4AD-4EBB-ACF1-9B08D11F9080}" dt="2026-09-15T03:21:01.311" v="14"/>
          <ac:spMkLst>
            <pc:docMk/>
            <pc:sldMk cId="3525154852" sldId="321"/>
            <ac:spMk id="2" creationId="{375C2417-A1CC-4A16-1874-6569321F6714}"/>
          </ac:spMkLst>
        </pc:spChg>
        <pc:spChg chg="mod">
          <ac:chgData name="심규상" userId="7c42deb9-6a7f-49c1-bd12-bcc09b0d1268" providerId="ADAL" clId="{CAE6F4ED-B4AD-4EBB-ACF1-9B08D11F9080}" dt="2026-09-20T11:56:15.768" v="666" actId="20577"/>
          <ac:spMkLst>
            <pc:docMk/>
            <pc:sldMk cId="3525154852" sldId="321"/>
            <ac:spMk id="3" creationId="{51A0E355-2944-7EB3-F01D-99FA54EDA3E6}"/>
          </ac:spMkLst>
        </pc:spChg>
      </pc:sldChg>
      <pc:sldChg chg="modSp">
        <pc:chgData name="심규상" userId="7c42deb9-6a7f-49c1-bd12-bcc09b0d1268" providerId="ADAL" clId="{CAE6F4ED-B4AD-4EBB-ACF1-9B08D11F9080}" dt="2026-09-15T08:14:33.999" v="609"/>
        <pc:sldMkLst>
          <pc:docMk/>
          <pc:sldMk cId="772295474" sldId="322"/>
        </pc:sldMkLst>
        <pc:spChg chg="mod">
          <ac:chgData name="심규상" userId="7c42deb9-6a7f-49c1-bd12-bcc09b0d1268" providerId="ADAL" clId="{CAE6F4ED-B4AD-4EBB-ACF1-9B08D11F9080}" dt="2026-09-15T04:10:27.387" v="168"/>
          <ac:spMkLst>
            <pc:docMk/>
            <pc:sldMk cId="772295474" sldId="322"/>
            <ac:spMk id="2" creationId="{7677C57F-962B-6E4F-7A37-F20A9E4EA357}"/>
          </ac:spMkLst>
        </pc:spChg>
        <pc:spChg chg="mod">
          <ac:chgData name="심규상" userId="7c42deb9-6a7f-49c1-bd12-bcc09b0d1268" providerId="ADAL" clId="{CAE6F4ED-B4AD-4EBB-ACF1-9B08D11F9080}" dt="2026-09-15T08:14:33.999" v="609"/>
          <ac:spMkLst>
            <pc:docMk/>
            <pc:sldMk cId="772295474" sldId="322"/>
            <ac:spMk id="3" creationId="{4444715D-D8F7-3DB8-C938-A07198841BC2}"/>
          </ac:spMkLst>
        </pc:spChg>
      </pc:sldChg>
      <pc:sldChg chg="modSp mod">
        <pc:chgData name="심규상" userId="7c42deb9-6a7f-49c1-bd12-bcc09b0d1268" providerId="ADAL" clId="{CAE6F4ED-B4AD-4EBB-ACF1-9B08D11F9080}" dt="2026-09-21T04:13:37.989" v="1353" actId="113"/>
        <pc:sldMkLst>
          <pc:docMk/>
          <pc:sldMk cId="2553832549" sldId="323"/>
        </pc:sldMkLst>
        <pc:spChg chg="mod">
          <ac:chgData name="심규상" userId="7c42deb9-6a7f-49c1-bd12-bcc09b0d1268" providerId="ADAL" clId="{CAE6F4ED-B4AD-4EBB-ACF1-9B08D11F9080}" dt="2026-09-15T05:30:22.074" v="402"/>
          <ac:spMkLst>
            <pc:docMk/>
            <pc:sldMk cId="2553832549" sldId="323"/>
            <ac:spMk id="2" creationId="{1377C70E-7F55-0283-DC84-D53DC85310EE}"/>
          </ac:spMkLst>
        </pc:spChg>
        <pc:spChg chg="mod">
          <ac:chgData name="심규상" userId="7c42deb9-6a7f-49c1-bd12-bcc09b0d1268" providerId="ADAL" clId="{CAE6F4ED-B4AD-4EBB-ACF1-9B08D11F9080}" dt="2026-09-21T04:13:37.989" v="1353" actId="113"/>
          <ac:spMkLst>
            <pc:docMk/>
            <pc:sldMk cId="2553832549" sldId="323"/>
            <ac:spMk id="3" creationId="{369D0251-6DD5-E52A-7560-A7B311F77092}"/>
          </ac:spMkLst>
        </pc:spChg>
      </pc:sldChg>
      <pc:sldChg chg="modSp new mod">
        <pc:chgData name="심규상" userId="7c42deb9-6a7f-49c1-bd12-bcc09b0d1268" providerId="ADAL" clId="{CAE6F4ED-B4AD-4EBB-ACF1-9B08D11F9080}" dt="2026-09-21T04:05:06.098" v="772"/>
        <pc:sldMkLst>
          <pc:docMk/>
          <pc:sldMk cId="2590833178" sldId="324"/>
        </pc:sldMkLst>
        <pc:spChg chg="mod">
          <ac:chgData name="심규상" userId="7c42deb9-6a7f-49c1-bd12-bcc09b0d1268" providerId="ADAL" clId="{CAE6F4ED-B4AD-4EBB-ACF1-9B08D11F9080}" dt="2026-09-21T04:05:06.098" v="772"/>
          <ac:spMkLst>
            <pc:docMk/>
            <pc:sldMk cId="2590833178" sldId="324"/>
            <ac:spMk id="2" creationId="{0D85FD12-1227-CBD9-90FE-419AAAA622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5D61D4D0-327B-4818-91D3-779443DEAB67}" type="datetimeFigureOut">
              <a:rPr lang="ko-KR" altLang="en-US" smtClean="0"/>
              <a:pPr/>
              <a:t>2026-09-18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Noto Sans KR" panose="020B0200000000000000" pitchFamily="50" charset="-127"/>
              </a:defRPr>
            </a:lvl1pPr>
          </a:lstStyle>
          <a:p>
            <a:fld id="{760E060C-6015-46ED-99FF-799FFDC6ABB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284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Noto Sans KR" panose="020B0200000000000000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E060C-6015-46ED-99FF-799FFDC6ABBD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021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/>
              <a:t>추론 깊이 식별 연구를 통해 토큰 남용</a:t>
            </a:r>
            <a:r>
              <a:rPr lang="en-US" altLang="ko-KR" b="0" dirty="0"/>
              <a:t> </a:t>
            </a:r>
            <a:r>
              <a:rPr lang="ko-KR" altLang="en-US" b="0" dirty="0"/>
              <a:t>방지</a:t>
            </a:r>
            <a:r>
              <a:rPr lang="en-US" altLang="ko-KR" b="0" dirty="0"/>
              <a:t>, </a:t>
            </a:r>
            <a:r>
              <a:rPr lang="ko-KR" altLang="en-US" b="0" dirty="0"/>
              <a:t>사람 </a:t>
            </a:r>
            <a:r>
              <a:rPr lang="en-US" altLang="ko-KR" b="0" dirty="0"/>
              <a:t>vs </a:t>
            </a:r>
            <a:r>
              <a:rPr lang="ko-KR" altLang="en-US" b="0" dirty="0"/>
              <a:t>자율 에이전트 </a:t>
            </a:r>
            <a:r>
              <a:rPr lang="en-US" altLang="ko-KR" b="0" dirty="0"/>
              <a:t>(Auto Mode) </a:t>
            </a:r>
            <a:r>
              <a:rPr lang="ko-KR" altLang="en-US" b="0" dirty="0"/>
              <a:t>세션 구별</a:t>
            </a:r>
            <a:r>
              <a:rPr lang="en-US" altLang="ko-KR" b="0" dirty="0"/>
              <a:t>, </a:t>
            </a:r>
            <a:r>
              <a:rPr lang="ko-KR" altLang="en-US" b="0" dirty="0"/>
              <a:t>그리고 이상탐지로 확장 가능</a:t>
            </a:r>
            <a:r>
              <a:rPr lang="en-US" altLang="ko-KR" b="0" dirty="0"/>
              <a:t>.</a:t>
            </a:r>
          </a:p>
          <a:p>
            <a:r>
              <a:rPr lang="en-US" altLang="ko-KR" dirty="0"/>
              <a:t>&lt;- </a:t>
            </a:r>
            <a:r>
              <a:rPr lang="ko-KR" altLang="en-US" dirty="0"/>
              <a:t>나중에 응용 연구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E060C-6015-46ED-99FF-799FFDC6ABBD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2881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735627" y="1494308"/>
            <a:ext cx="8846773" cy="1468800"/>
          </a:xfrm>
          <a:prstGeom prst="rect">
            <a:avLst/>
          </a:prstGeom>
          <a:ln w="12700">
            <a:solidFill>
              <a:srgbClr val="7C001A"/>
            </a:solidFill>
          </a:ln>
        </p:spPr>
        <p:txBody>
          <a:bodyPr anchor="ctr" anchorCtr="0"/>
          <a:lstStyle>
            <a:lvl1pPr>
              <a:defRPr b="1" i="0" baseline="0">
                <a:solidFill>
                  <a:schemeClr val="tx1"/>
                </a:solidFill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noProof="0" dirty="0"/>
              <a:t> Click here to Enter Presentation Name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27" name="Picture 3" descr="C:\Users\Jongsoo\Desktop\그림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443" y="-4860"/>
            <a:ext cx="1974851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Jongsoo\Downloads\logo&amp;ui(3)\emblem_03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4"/>
          <p:cNvCxnSpPr/>
          <p:nvPr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2800480" y="4556234"/>
            <a:ext cx="8781920" cy="8113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1" baseline="0">
                <a:solidFill>
                  <a:schemeClr val="tx1"/>
                </a:solidFill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enter author or presenter’s name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2800351" y="3013745"/>
            <a:ext cx="8782049" cy="5676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i="1" baseline="0">
                <a:latin typeface="Roboto" panose="02000000000000000000" pitchFamily="2" charset="0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describe paper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2" descr="C:\Users\Jongsoo\Downloads\logo&amp;ui(3)\emblem_03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0"/>
            <a:ext cx="1976493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연결선 4"/>
          <p:cNvCxnSpPr/>
          <p:nvPr userDrawn="1"/>
        </p:nvCxnSpPr>
        <p:spPr bwMode="auto">
          <a:xfrm>
            <a:off x="2789293" y="5410200"/>
            <a:ext cx="87931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 userDrawn="1"/>
        </p:nvSpPr>
        <p:spPr>
          <a:xfrm>
            <a:off x="619843" y="3242935"/>
            <a:ext cx="2362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ea typeface="Noto Sans KR" panose="020B0200000000000000" pitchFamily="50" charset="-127"/>
              </a:rPr>
              <a:t>https://nmlab.korea.ac.kr</a:t>
            </a: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99" y="3013744"/>
            <a:ext cx="1976495" cy="25516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2863852" y="5367556"/>
            <a:ext cx="8782049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Network Management Lab.,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Dept., of Computer and Information Science</a:t>
            </a:r>
          </a:p>
          <a:p>
            <a:pPr lvl="0" algn="r"/>
            <a:r>
              <a:rPr lang="en-US" altLang="ko-KR" sz="1400" b="1" i="1" noProof="0" dirty="0">
                <a:solidFill>
                  <a:srgbClr val="595959"/>
                </a:solidFill>
                <a:ea typeface="Noto Sans KR" panose="020B0200000000000000" pitchFamily="50" charset="-127"/>
              </a:rPr>
              <a:t>Korea University, Korea</a:t>
            </a:r>
            <a:endParaRPr lang="ko-KR" altLang="en-US" sz="1400" b="1" i="1" dirty="0">
              <a:solidFill>
                <a:srgbClr val="595959"/>
              </a:solidFill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1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1133" y="925512"/>
            <a:ext cx="10972800" cy="5634051"/>
          </a:xfrm>
          <a:prstGeom prst="rect">
            <a:avLst/>
          </a:prstGeom>
        </p:spPr>
        <p:txBody>
          <a:bodyPr/>
          <a:lstStyle>
            <a:lvl1pPr marL="365760" indent="-365760">
              <a:lnSpc>
                <a:spcPct val="100000"/>
              </a:lnSpc>
              <a:buClr>
                <a:srgbClr val="951B39"/>
              </a:buClr>
              <a:buFont typeface="Wingdings" panose="05000000000000000000" pitchFamily="2" charset="2"/>
              <a:buChar char="q"/>
              <a:defRPr sz="2000" b="1" baseline="0">
                <a:solidFill>
                  <a:srgbClr val="951B39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742950" indent="-247650">
              <a:lnSpc>
                <a:spcPct val="100000"/>
              </a:lnSpc>
              <a:buFont typeface="Wingdings" panose="05000000000000000000" pitchFamily="2" charset="2"/>
              <a:buChar char="§"/>
              <a:defRPr sz="18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3pPr>
            <a:lvl4pPr marL="1422400" indent="-168275">
              <a:lnSpc>
                <a:spcPct val="100000"/>
              </a:lnSpc>
              <a:buFont typeface="Arial" panose="020B0604020202020204" pitchFamily="34" charset="0"/>
              <a:buChar char="−"/>
              <a:defRPr sz="1400" baseline="0">
                <a:solidFill>
                  <a:srgbClr val="4D4D4D"/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200" baseline="0">
                <a:solidFill>
                  <a:schemeClr val="bg1">
                    <a:lumMod val="50000"/>
                  </a:schemeClr>
                </a:solidFill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968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1133" y="401638"/>
            <a:ext cx="10981267" cy="501650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cxnSp>
        <p:nvCxnSpPr>
          <p:cNvPr id="7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Date Placeholder 7"/>
          <p:cNvSpPr>
            <a:spLocks noGrp="1"/>
          </p:cNvSpPr>
          <p:nvPr>
            <p:ph type="dt" sz="half" idx="10"/>
          </p:nvPr>
        </p:nvSpPr>
        <p:spPr>
          <a:xfrm>
            <a:off x="203200" y="6570677"/>
            <a:ext cx="13970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1303000" y="6570677"/>
            <a:ext cx="685800" cy="231644"/>
          </a:xfrm>
        </p:spPr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직선 연결선 4"/>
          <p:cNvCxnSpPr/>
          <p:nvPr userDrawn="1"/>
        </p:nvCxnSpPr>
        <p:spPr bwMode="auto">
          <a:xfrm>
            <a:off x="609600" y="914400"/>
            <a:ext cx="10972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C001A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752" y="571484"/>
            <a:ext cx="1166648" cy="319619"/>
          </a:xfrm>
          <a:prstGeom prst="rect">
            <a:avLst/>
          </a:prstGeom>
        </p:spPr>
      </p:pic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0996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2819400"/>
            <a:ext cx="10363200" cy="1362075"/>
          </a:xfrm>
          <a:prstGeom prst="rect">
            <a:avLst/>
          </a:prstGeom>
        </p:spPr>
        <p:txBody>
          <a:bodyPr anchor="b" anchorCtr="0"/>
          <a:lstStyle>
            <a:lvl1pPr algn="l">
              <a:defRPr sz="2800" b="1" cap="all" baseline="0">
                <a:latin typeface="+mj-lt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4291014"/>
            <a:ext cx="10363200" cy="150018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800" baseline="0">
                <a:latin typeface="+mn-lt"/>
                <a:ea typeface="HY견고딕" panose="02030600000101010101" pitchFamily="18" charset="-127"/>
                <a:cs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cxnSp>
        <p:nvCxnSpPr>
          <p:cNvPr id="5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직선 연결선 4"/>
          <p:cNvCxnSpPr/>
          <p:nvPr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직선 연결선 4"/>
          <p:cNvCxnSpPr/>
          <p:nvPr userDrawn="1"/>
        </p:nvCxnSpPr>
        <p:spPr bwMode="auto">
          <a:xfrm>
            <a:off x="956813" y="4231688"/>
            <a:ext cx="10320787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951B3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ooter Placeholder 7"/>
          <p:cNvSpPr>
            <a:spLocks noGrp="1"/>
          </p:cNvSpPr>
          <p:nvPr>
            <p:ph type="ftr" sz="quarter" idx="14"/>
          </p:nvPr>
        </p:nvSpPr>
        <p:spPr>
          <a:xfrm>
            <a:off x="2889541" y="6570677"/>
            <a:ext cx="6426200" cy="231644"/>
          </a:xfrm>
        </p:spPr>
        <p:txBody>
          <a:bodyPr/>
          <a:lstStyle>
            <a:lvl1pPr>
              <a:defRPr b="1" baseline="0">
                <a:solidFill>
                  <a:srgbClr val="595959"/>
                </a:solidFill>
                <a:latin typeface="+mj-lt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8888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59B54-3D99-4AA5-A437-2608DE7E9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8973"/>
            <a:ext cx="9144000" cy="2197486"/>
          </a:xfrm>
        </p:spPr>
        <p:txBody>
          <a:bodyPr anchor="b">
            <a:normAutofit/>
          </a:bodyPr>
          <a:lstStyle>
            <a:lvl1pPr algn="ctr">
              <a:defRPr lang="ko-KR" altLang="en-US" sz="2800" b="1" i="0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4A7191-39C9-44C8-82E8-5486E8D28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5652"/>
            <a:ext cx="9144000" cy="756154"/>
          </a:xfrm>
        </p:spPr>
        <p:txBody>
          <a:bodyPr>
            <a:normAutofit/>
          </a:bodyPr>
          <a:lstStyle>
            <a:lvl1pPr marL="0" indent="0" algn="ctr">
              <a:buNone/>
              <a:defRPr lang="ko-KR" altLang="en-US" sz="2000" i="0" baseline="0" dirty="0">
                <a:solidFill>
                  <a:srgbClr val="4D4D4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1524000" y="409420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364FC36-B7FD-4EC6-B825-AA109186CA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3999" y="4357816"/>
            <a:ext cx="9143999" cy="1606378"/>
          </a:xfrm>
        </p:spPr>
        <p:txBody>
          <a:bodyPr>
            <a:normAutofit/>
          </a:bodyPr>
          <a:lstStyle>
            <a:lvl1pPr marL="0" indent="0" algn="r">
              <a:buNone/>
              <a:defRPr lang="ko-KR" altLang="en-US" sz="1800" b="1" baseline="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고려대학교 세종캠퍼스</a:t>
            </a:r>
            <a:endParaRPr lang="en-US" altLang="ko-KR" dirty="0"/>
          </a:p>
          <a:p>
            <a:pPr lvl="0"/>
            <a:r>
              <a:rPr lang="ko-KR" altLang="en-US" dirty="0"/>
              <a:t>네트워크 관리 연구실</a:t>
            </a:r>
            <a:endParaRPr lang="en-US" altLang="ko-KR" dirty="0"/>
          </a:p>
          <a:p>
            <a:pPr lvl="0"/>
            <a:r>
              <a:rPr lang="ko-KR" altLang="en-US" dirty="0"/>
              <a:t>유경민</a:t>
            </a:r>
            <a:endParaRPr lang="en-US" altLang="ko-KR" dirty="0"/>
          </a:p>
          <a:p>
            <a:pPr lvl="0"/>
            <a:r>
              <a:rPr lang="en-US" altLang="ko-KR" dirty="0"/>
              <a:t>rudals2710@korea.ac.kr</a:t>
            </a:r>
            <a:endParaRPr lang="ko-KR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5DC049A-FCAF-8E3F-A2F2-4C8197323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6216485"/>
            <a:ext cx="2823364" cy="47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229B8D-A5C6-193F-02B4-AFE9534C0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9174450" y="6165804"/>
            <a:ext cx="1493548" cy="5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77" y="369169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228600" indent="-2880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342611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00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DE61-1A34-4279-8937-326F5840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448"/>
            <a:ext cx="10584000" cy="508086"/>
          </a:xfrm>
        </p:spPr>
        <p:txBody>
          <a:bodyPr>
            <a:normAutofit/>
          </a:bodyPr>
          <a:lstStyle>
            <a:lvl1pPr>
              <a:defRPr lang="ko-KR" altLang="en-US" sz="2400" b="1" baseline="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E3091-7188-462F-9934-13F7BF55C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156"/>
            <a:ext cx="10584000" cy="5255739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Tx/>
              <a:buBlip>
                <a:blip r:embed="rId2"/>
              </a:buBlip>
              <a:defRPr sz="2000" b="1">
                <a:solidFill>
                  <a:srgbClr val="056AE8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685800" indent="-228600">
              <a:lnSpc>
                <a:spcPct val="150000"/>
              </a:lnSpc>
              <a:buFontTx/>
              <a:buBlip>
                <a:blip r:embed="rId3"/>
              </a:buBlip>
              <a:defRPr sz="18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 marL="990600" indent="-228600">
              <a:buFontTx/>
              <a:buBlip>
                <a:blip r:embed="rId4"/>
              </a:buBlip>
              <a:defRPr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 marL="1347788" indent="-239713">
              <a:buFontTx/>
              <a:buBlip>
                <a:blip r:embed="rId5"/>
              </a:buBlip>
              <a:tabLst>
                <a:tab pos="1527175" algn="l"/>
              </a:tabLst>
              <a:defRPr lang="en-US" altLang="ko-KR" sz="1400" kern="12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42F990D-7A19-4BDF-A187-3D16DDB04FBE}"/>
              </a:ext>
            </a:extLst>
          </p:cNvPr>
          <p:cNvCxnSpPr>
            <a:cxnSpLocks/>
          </p:cNvCxnSpPr>
          <p:nvPr userDrawn="1"/>
        </p:nvCxnSpPr>
        <p:spPr>
          <a:xfrm flipV="1">
            <a:off x="801256" y="355890"/>
            <a:ext cx="0" cy="534644"/>
          </a:xfrm>
          <a:prstGeom prst="line">
            <a:avLst/>
          </a:prstGeom>
          <a:ln w="9525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CFFB2B-F44D-43C8-AF85-49F228891F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503767"/>
            <a:ext cx="1488218" cy="24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D30089-E6CD-43E0-D90C-7A20CE7AC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1"/>
          <a:stretch/>
        </p:blipFill>
        <p:spPr>
          <a:xfrm>
            <a:off x="10496032" y="6450457"/>
            <a:ext cx="926168" cy="3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32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Q&amp;A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8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3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18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BB7F8AB-309B-47D6-A462-49E437A98001}"/>
              </a:ext>
            </a:extLst>
          </p:cNvPr>
          <p:cNvCxnSpPr>
            <a:cxnSpLocks/>
          </p:cNvCxnSpPr>
          <p:nvPr userDrawn="1"/>
        </p:nvCxnSpPr>
        <p:spPr>
          <a:xfrm>
            <a:off x="722313" y="3913956"/>
            <a:ext cx="9144000" cy="0"/>
          </a:xfrm>
          <a:prstGeom prst="line">
            <a:avLst/>
          </a:prstGeom>
          <a:ln w="38100">
            <a:solidFill>
              <a:srgbClr val="05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F0035F-2E87-740A-9D37-D61F0458EBE9}"/>
              </a:ext>
            </a:extLst>
          </p:cNvPr>
          <p:cNvSpPr txBox="1"/>
          <p:nvPr userDrawn="1"/>
        </p:nvSpPr>
        <p:spPr>
          <a:xfrm>
            <a:off x="722313" y="3105834"/>
            <a:ext cx="4566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Thank you</a:t>
            </a: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133198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203200" y="6570677"/>
            <a:ext cx="13970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2889541" y="6570677"/>
            <a:ext cx="64262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303000" y="6570677"/>
            <a:ext cx="685800" cy="231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HY견고딕" panose="02030600000101010101" pitchFamily="18" charset="-127"/>
              </a:defRPr>
            </a:lvl1pPr>
          </a:lstStyle>
          <a:p>
            <a:fld id="{4EED1F5F-4CD8-441B-AD26-7696CA6A43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78" r:id="rId4"/>
  </p:sldLayoutIdLst>
  <mc:AlternateContent xmlns:mc="http://schemas.openxmlformats.org/markup-compatibility/2006" xmlns:p14="http://schemas.microsoft.com/office/powerpoint/2010/main">
    <mc:Choice Requires="p14">
      <p:transition p14:dur="350">
        <p:push/>
      </p:transition>
    </mc:Choice>
    <mc:Fallback xmlns="">
      <p:transition>
        <p:push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Arial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476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4D4D4D"/>
          </a:solidFill>
          <a:latin typeface="+mn-lt"/>
        </a:defRPr>
      </a:lvl2pPr>
      <a:lvl3pPr marL="108585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4D4D4D"/>
          </a:solidFill>
          <a:latin typeface="+mn-lt"/>
        </a:defRPr>
      </a:lvl3pPr>
      <a:lvl4pPr marL="1422400" indent="-1682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rgbClr val="4D4D4D"/>
          </a:solidFill>
          <a:latin typeface="+mn-lt"/>
        </a:defRPr>
      </a:lvl4pPr>
      <a:lvl5pPr marL="17780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5pPr>
      <a:lvl6pPr marL="22352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6pPr>
      <a:lvl7pPr marL="26924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7pPr>
      <a:lvl8pPr marL="31496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8pPr>
      <a:lvl9pPr marL="360680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1000">
          <a:solidFill>
            <a:srgbClr val="4D4D4D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E0C55C-36F2-4F7B-A544-953E87E2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DC7B68-1D9C-41AC-8B28-A1D681CD5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0E4E8C-F7AA-4061-A796-B3F5B2123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B95D4-4DAF-4C3E-A51B-A9008BA09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849F5-018E-461E-8A22-00C859E5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9DF33CAF-42AD-4023-A233-E8C66A7A99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32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60" r:id="rId4"/>
    <p:sldLayoutId id="2147483682" r:id="rId5"/>
    <p:sldLayoutId id="214748368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e0213@korea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214A1-6A3F-613D-75C7-AD5F0DE4F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3161" y="893806"/>
            <a:ext cx="12298326" cy="2197486"/>
          </a:xfrm>
        </p:spPr>
        <p:txBody>
          <a:bodyPr/>
          <a:lstStyle/>
          <a:p>
            <a:r>
              <a:rPr lang="ko-KR" altLang="en-US" dirty="0"/>
              <a:t>암호화 </a:t>
            </a:r>
            <a:r>
              <a:rPr lang="en-US" altLang="ko-KR" dirty="0"/>
              <a:t>LLM </a:t>
            </a:r>
            <a:r>
              <a:rPr lang="ko-KR" altLang="en-US" dirty="0"/>
              <a:t>트래픽 추론 깊이 식별 연구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C8F44-20F4-2944-00FF-E3E0866957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ko-KR" altLang="en-US" sz="1400" b="0" dirty="0"/>
              <a:t>고려대학교 세종캠퍼스</a:t>
            </a:r>
            <a:endParaRPr lang="en-US" altLang="ko-KR" sz="1400" b="0" dirty="0"/>
          </a:p>
          <a:p>
            <a:r>
              <a:rPr lang="ko-KR" altLang="en-US" sz="1400" b="0" dirty="0"/>
              <a:t>네트워크 관리 연구실</a:t>
            </a:r>
            <a:endParaRPr lang="en-US" altLang="ko-KR" sz="1400" b="0" dirty="0"/>
          </a:p>
          <a:p>
            <a:r>
              <a:rPr lang="ko-KR" altLang="en-US" sz="1400" b="0" dirty="0"/>
              <a:t>심규상 학부 연구생</a:t>
            </a:r>
            <a:endParaRPr lang="en-US" altLang="ko-KR" sz="1400" b="0" dirty="0"/>
          </a:p>
          <a:p>
            <a:r>
              <a:rPr lang="en-US" altLang="ko-KR" sz="1400" b="0" dirty="0">
                <a:hlinkClick r:id="rId3"/>
              </a:rPr>
              <a:t>cole0213@korea.ac.kr</a:t>
            </a:r>
            <a:endParaRPr lang="en-US" altLang="ko-KR" sz="1400" b="0" dirty="0"/>
          </a:p>
          <a:p>
            <a:endParaRPr lang="en-US" altLang="ko-KR" sz="1400" b="0" dirty="0"/>
          </a:p>
          <a:p>
            <a:endParaRPr lang="en-US" altLang="ko-KR" sz="1400" b="0" dirty="0"/>
          </a:p>
          <a:p>
            <a:endParaRPr lang="ko-KR" altLang="en-US" sz="1400" b="0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90093DCE-FA96-49BB-C7BF-39768BCD6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185652"/>
            <a:ext cx="9144000" cy="756154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43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82A98-60AA-BDBD-7668-DE2EB174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EAE69-E405-C098-B616-51CABBBC3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1.</a:t>
            </a:r>
            <a:r>
              <a:rPr lang="ko-KR" altLang="en-US" b="0" dirty="0"/>
              <a:t> 연구 배경</a:t>
            </a:r>
            <a:endParaRPr lang="en-US" altLang="ko-KR" b="0" dirty="0"/>
          </a:p>
          <a:p>
            <a:r>
              <a:rPr lang="en-US" altLang="ko-KR" b="0" dirty="0"/>
              <a:t>2. </a:t>
            </a:r>
            <a:r>
              <a:rPr lang="ko-KR" altLang="en-US" b="0" dirty="0"/>
              <a:t>추론 깊이 식별을 왜 하는가</a:t>
            </a:r>
            <a:endParaRPr lang="en-US" altLang="ko-KR" b="0" dirty="0"/>
          </a:p>
          <a:p>
            <a:r>
              <a:rPr lang="en-US" altLang="ko-KR" b="0" dirty="0"/>
              <a:t>3. </a:t>
            </a:r>
            <a:r>
              <a:rPr lang="ko-KR" altLang="en-US" b="0" dirty="0"/>
              <a:t>기존 연구</a:t>
            </a:r>
            <a:endParaRPr lang="en-US" altLang="ko-KR" b="0" dirty="0"/>
          </a:p>
          <a:p>
            <a:r>
              <a:rPr lang="en-US" altLang="ko-KR" b="0" dirty="0"/>
              <a:t>4. </a:t>
            </a:r>
            <a:r>
              <a:rPr lang="ko-KR" altLang="en-US" b="0" dirty="0"/>
              <a:t>연구 설계</a:t>
            </a:r>
            <a:endParaRPr lang="en-US" altLang="ko-KR" b="0" dirty="0"/>
          </a:p>
          <a:p>
            <a:r>
              <a:rPr lang="en-US" altLang="ko-KR" b="0" dirty="0"/>
              <a:t>5. </a:t>
            </a:r>
            <a:r>
              <a:rPr lang="ko-KR" altLang="ko-KR" b="0" dirty="0"/>
              <a:t>기대 </a:t>
            </a:r>
            <a:r>
              <a:rPr lang="ko-KR" altLang="ko-KR" b="0" dirty="0" err="1"/>
              <a:t>효과·의의</a:t>
            </a:r>
            <a:endParaRPr lang="en-US" altLang="ko-KR" b="0" dirty="0"/>
          </a:p>
          <a:p>
            <a:r>
              <a:rPr lang="en-US" altLang="ko-KR" b="0" dirty="0"/>
              <a:t>6. </a:t>
            </a:r>
            <a:r>
              <a:rPr lang="ko-KR" altLang="en-US" b="0" dirty="0"/>
              <a:t>한계점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156175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C2417-A1CC-4A16-1874-6569321F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연구 배경 </a:t>
            </a:r>
            <a:r>
              <a:rPr lang="en-US" altLang="ko-KR" dirty="0"/>
              <a:t>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0E355-2944-7EB3-F01D-99FA54EDA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과거의 </a:t>
            </a:r>
            <a:r>
              <a:rPr lang="en-US" altLang="ko-KR" b="0" dirty="0"/>
              <a:t>LLM</a:t>
            </a:r>
            <a:r>
              <a:rPr lang="ko-KR" altLang="en-US" b="0" dirty="0"/>
              <a:t>은 사용자가 입력을 하면 바로 답을 생성하였고</a:t>
            </a:r>
            <a:r>
              <a:rPr lang="en-US" altLang="ko-KR" b="0" dirty="0"/>
              <a:t>, </a:t>
            </a:r>
            <a:r>
              <a:rPr lang="ko-KR" altLang="en-US" b="0" dirty="0"/>
              <a:t>여기서 더 좋은 대답을 얻기 위해서는 사용자가 프롬프트를 설정해 유도를 </a:t>
            </a:r>
            <a:r>
              <a:rPr lang="ko-KR" altLang="en-US" b="0" dirty="0" err="1"/>
              <a:t>해야했음</a:t>
            </a:r>
            <a:r>
              <a:rPr lang="en-US" altLang="ko-KR" b="0" dirty="0"/>
              <a:t>.</a:t>
            </a:r>
          </a:p>
          <a:p>
            <a:pPr lvl="1"/>
            <a:r>
              <a:rPr lang="ko-KR" altLang="en-US" dirty="0"/>
              <a:t>추론 깊이가 </a:t>
            </a:r>
            <a:r>
              <a:rPr lang="ko-KR" altLang="en-US" dirty="0" err="1"/>
              <a:t>고정되어있고</a:t>
            </a:r>
            <a:r>
              <a:rPr lang="ko-KR" altLang="en-US" dirty="0"/>
              <a:t> 수학</a:t>
            </a:r>
            <a:r>
              <a:rPr lang="en-US" altLang="ko-KR" dirty="0"/>
              <a:t>, </a:t>
            </a:r>
            <a:r>
              <a:rPr lang="ko-KR" altLang="en-US" dirty="0"/>
              <a:t>코딩</a:t>
            </a:r>
            <a:r>
              <a:rPr lang="en-US" altLang="ko-KR" dirty="0"/>
              <a:t>, </a:t>
            </a:r>
            <a:r>
              <a:rPr lang="ko-KR" altLang="en-US" dirty="0"/>
              <a:t>그리고 논리에 약한 모습을 보임</a:t>
            </a:r>
            <a:r>
              <a:rPr lang="en-US" altLang="ko-KR" dirty="0"/>
              <a:t>.</a:t>
            </a:r>
            <a:endParaRPr lang="en-US" altLang="ko-KR" b="0" dirty="0"/>
          </a:p>
          <a:p>
            <a:r>
              <a:rPr lang="ko-KR" altLang="en-US" b="0" dirty="0"/>
              <a:t>하지만 최근 </a:t>
            </a:r>
            <a:r>
              <a:rPr lang="en-US" altLang="ko-KR" b="0" dirty="0"/>
              <a:t>LLM</a:t>
            </a:r>
            <a:r>
              <a:rPr lang="ko-KR" altLang="en-US" b="0" dirty="0"/>
              <a:t>은 답변 전에 모델 내부에서 사고 단계를 거치는 </a:t>
            </a:r>
            <a:r>
              <a:rPr lang="ko-KR" altLang="en-US" dirty="0"/>
              <a:t>추론형 모델</a:t>
            </a:r>
            <a:r>
              <a:rPr lang="ko-KR" altLang="en-US" b="0" dirty="0"/>
              <a:t>로 확장되었음</a:t>
            </a:r>
            <a:r>
              <a:rPr lang="en-US" altLang="ko-KR" b="0" dirty="0"/>
              <a:t>.</a:t>
            </a:r>
          </a:p>
          <a:p>
            <a:pPr lvl="1"/>
            <a:r>
              <a:rPr lang="ko-KR" altLang="en-US" b="0" dirty="0"/>
              <a:t>추론 깊이가 조절 가능해지고 스스로 사고를 하여 질 좋은 대답을 내놓음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추론 깊이를 </a:t>
            </a:r>
            <a:r>
              <a:rPr lang="en-US" altLang="ko-KR" b="0" dirty="0"/>
              <a:t>Low, High, Max</a:t>
            </a:r>
            <a:r>
              <a:rPr lang="ko-KR" altLang="en-US" b="0" dirty="0"/>
              <a:t>로 조절할 수 있게 되었고 이 추론 깊이는 </a:t>
            </a:r>
            <a:r>
              <a:rPr lang="ko-KR" altLang="ko-KR" b="0" dirty="0" err="1"/>
              <a:t>성능·비용</a:t>
            </a:r>
            <a:r>
              <a:rPr lang="ko-KR" altLang="en-US" b="0" dirty="0" err="1"/>
              <a:t>의</a:t>
            </a:r>
            <a:r>
              <a:rPr lang="ko-KR" altLang="en-US" b="0" dirty="0"/>
              <a:t> 핵심 자원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이 추론 깊이를 측정하고 </a:t>
            </a:r>
            <a:r>
              <a:rPr lang="ko-KR" altLang="en-US" b="0" dirty="0" err="1"/>
              <a:t>특성화하는</a:t>
            </a:r>
            <a:r>
              <a:rPr lang="ko-KR" altLang="en-US" b="0" dirty="0"/>
              <a:t> 것이 본 연구의 목표이다</a:t>
            </a:r>
            <a:r>
              <a:rPr lang="en-US" altLang="ko-KR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5154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7C57F-962B-6E4F-7A37-F20A9E4E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연구 배경</a:t>
            </a:r>
            <a:r>
              <a:rPr lang="en-US" altLang="ko-KR" dirty="0"/>
              <a:t> ②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4715D-D8F7-3DB8-C938-A07198841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0" dirty="0"/>
              <a:t>LLM</a:t>
            </a:r>
            <a:r>
              <a:rPr lang="ko-KR" altLang="en-US" b="0" dirty="0"/>
              <a:t> 통신은 다 암호화 되어있기 때문에 응답 내용도</a:t>
            </a:r>
            <a:r>
              <a:rPr lang="en-US" altLang="ko-KR" b="0" dirty="0"/>
              <a:t>, </a:t>
            </a:r>
            <a:r>
              <a:rPr lang="ko-KR" altLang="en-US" b="0" dirty="0" err="1"/>
              <a:t>추론량도</a:t>
            </a:r>
            <a:r>
              <a:rPr lang="ko-KR" altLang="en-US" b="0" dirty="0"/>
              <a:t> 볼 수 없음</a:t>
            </a:r>
            <a:r>
              <a:rPr lang="en-US" altLang="ko-KR" b="0" dirty="0"/>
              <a:t>.</a:t>
            </a:r>
          </a:p>
          <a:p>
            <a:pPr lvl="1"/>
            <a:r>
              <a:rPr lang="ko-KR" altLang="en-US" b="0" dirty="0"/>
              <a:t>하지만 암호화된 상태에서도 </a:t>
            </a:r>
            <a:r>
              <a:rPr lang="ko-KR" altLang="ko-KR" b="0" dirty="0"/>
              <a:t>패킷 </a:t>
            </a:r>
            <a:r>
              <a:rPr lang="ko-KR" altLang="ko-KR" b="0" dirty="0" err="1"/>
              <a:t>크기·방향·타이밍·개수는</a:t>
            </a:r>
            <a:r>
              <a:rPr lang="ko-KR" altLang="ko-KR" b="0" dirty="0"/>
              <a:t> </a:t>
            </a:r>
            <a:r>
              <a:rPr lang="ko-KR" altLang="en-US" b="0" dirty="0"/>
              <a:t>확인 가능</a:t>
            </a:r>
            <a:r>
              <a:rPr lang="en-US" altLang="ko-KR" b="0" dirty="0"/>
              <a:t>.</a:t>
            </a:r>
          </a:p>
          <a:p>
            <a:r>
              <a:rPr lang="en-US" altLang="ko-KR" b="0" dirty="0"/>
              <a:t>LLM</a:t>
            </a:r>
            <a:r>
              <a:rPr lang="ko-KR" altLang="en-US" b="0" dirty="0"/>
              <a:t>이 응답 받는 방식은 스트리밍과 </a:t>
            </a:r>
            <a:r>
              <a:rPr lang="ko-KR" altLang="en-US" b="0" dirty="0" err="1"/>
              <a:t>비스트리밍이</a:t>
            </a:r>
            <a:r>
              <a:rPr lang="ko-KR" altLang="en-US" b="0" dirty="0"/>
              <a:t> 존재하고 선택 가능</a:t>
            </a:r>
            <a:r>
              <a:rPr lang="en-US" altLang="ko-KR" b="0" dirty="0"/>
              <a:t>.</a:t>
            </a:r>
          </a:p>
          <a:p>
            <a:r>
              <a:rPr lang="ko-KR" altLang="en-US" b="0" dirty="0"/>
              <a:t>어느 </a:t>
            </a:r>
            <a:r>
              <a:rPr lang="ko-KR" altLang="en-US" b="0" dirty="0" err="1"/>
              <a:t>방식이냐에</a:t>
            </a:r>
            <a:r>
              <a:rPr lang="ko-KR" altLang="en-US" b="0" dirty="0"/>
              <a:t> 따라 트래픽에 남는 신호의 양이 다름</a:t>
            </a:r>
            <a:r>
              <a:rPr lang="en-US" altLang="ko-KR" b="0" dirty="0"/>
              <a:t>!</a:t>
            </a:r>
          </a:p>
          <a:p>
            <a:pPr lvl="1"/>
            <a:r>
              <a:rPr lang="ko-KR" altLang="en-US" b="0" dirty="0"/>
              <a:t>스트리밍</a:t>
            </a:r>
            <a:r>
              <a:rPr lang="en-US" altLang="ko-KR" b="0" dirty="0"/>
              <a:t>: </a:t>
            </a:r>
            <a:r>
              <a:rPr lang="ko-KR" altLang="en-US" dirty="0"/>
              <a:t>단어 조각</a:t>
            </a:r>
            <a:r>
              <a:rPr lang="ko-KR" altLang="en-US" b="0" dirty="0"/>
              <a:t>을 생성할 때마다 바로바로 전달이 되어서 작은 패킷들이 시간차를 두고 여러 개 도착함</a:t>
            </a:r>
            <a:r>
              <a:rPr lang="en-US" altLang="ko-KR" b="0" dirty="0"/>
              <a:t>.</a:t>
            </a:r>
          </a:p>
          <a:p>
            <a:pPr lvl="2"/>
            <a:r>
              <a:rPr lang="ko-KR" altLang="en-US" b="0" dirty="0"/>
              <a:t>첫 패킷까지 걸린 시간</a:t>
            </a:r>
            <a:r>
              <a:rPr lang="en-US" altLang="ko-KR" b="0" dirty="0"/>
              <a:t>, </a:t>
            </a:r>
            <a:r>
              <a:rPr lang="ko-KR" altLang="en-US" dirty="0"/>
              <a:t>도착한 패킷의 개수</a:t>
            </a:r>
            <a:r>
              <a:rPr lang="en-US" altLang="ko-KR" dirty="0"/>
              <a:t>, </a:t>
            </a:r>
            <a:r>
              <a:rPr lang="ko-KR" altLang="en-US" dirty="0"/>
              <a:t>패킷들 사이 간격 패턴</a:t>
            </a:r>
            <a:endParaRPr lang="en-US" altLang="ko-KR" dirty="0"/>
          </a:p>
          <a:p>
            <a:pPr lvl="1"/>
            <a:r>
              <a:rPr lang="ko-KR" altLang="en-US" b="0" dirty="0" err="1"/>
              <a:t>비스트리밍</a:t>
            </a:r>
            <a:r>
              <a:rPr lang="en-US" altLang="ko-KR" b="0" dirty="0"/>
              <a:t>: </a:t>
            </a:r>
            <a:r>
              <a:rPr lang="ko-KR" altLang="en-US" b="0" dirty="0"/>
              <a:t>서버가 답을 끝까지 다 만든 뒤</a:t>
            </a:r>
            <a:r>
              <a:rPr lang="en-US" altLang="ko-KR" b="0" dirty="0"/>
              <a:t>, </a:t>
            </a:r>
            <a:r>
              <a:rPr lang="ko-KR" altLang="en-US" dirty="0"/>
              <a:t>완성된 대답을 통째로 한 번에 보냄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0" dirty="0"/>
              <a:t>총 지연 시간</a:t>
            </a:r>
            <a:r>
              <a:rPr lang="ko-KR" altLang="en-US" dirty="0"/>
              <a:t>과 </a:t>
            </a:r>
            <a:r>
              <a:rPr lang="ko-KR" altLang="en-US" b="0" dirty="0"/>
              <a:t>응답의 크기</a:t>
            </a:r>
            <a:endParaRPr lang="en-US" altLang="ko-KR" b="0" dirty="0"/>
          </a:p>
          <a:p>
            <a:r>
              <a:rPr lang="ko-KR" altLang="en-US" b="0" dirty="0"/>
              <a:t>추론형 모델은 답 전에 스스로 사고하는 과정을 거침</a:t>
            </a:r>
            <a:r>
              <a:rPr lang="en-US" altLang="ko-KR" b="0" dirty="0"/>
              <a:t>.</a:t>
            </a:r>
          </a:p>
          <a:p>
            <a:pPr lvl="1"/>
            <a:r>
              <a:rPr lang="en-US" altLang="ko-KR" dirty="0"/>
              <a:t>OpenAI</a:t>
            </a:r>
            <a:r>
              <a:rPr lang="ko-KR" altLang="en-US" dirty="0"/>
              <a:t>의 모델 계열 </a:t>
            </a:r>
            <a:r>
              <a:rPr lang="en-US" altLang="ko-KR" dirty="0"/>
              <a:t>o-series (o1, o3, o4-mini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답을 하기 전에 속으로 추론한 내용</a:t>
            </a:r>
            <a:r>
              <a:rPr lang="en-US" altLang="ko-KR" dirty="0"/>
              <a:t>(</a:t>
            </a:r>
            <a:r>
              <a:rPr lang="ko-KR" altLang="en-US" dirty="0"/>
              <a:t>사고 과정</a:t>
            </a:r>
            <a:r>
              <a:rPr lang="en-US" altLang="ko-KR" dirty="0"/>
              <a:t>)</a:t>
            </a:r>
            <a:r>
              <a:rPr lang="ko-KR" altLang="en-US" dirty="0"/>
              <a:t>을 이루는 토큰을 노출하지 않음</a:t>
            </a:r>
            <a:r>
              <a:rPr lang="en-US" altLang="ko-KR" dirty="0"/>
              <a:t>. </a:t>
            </a:r>
            <a:r>
              <a:rPr lang="ko-KR" altLang="en-US" dirty="0"/>
              <a:t>대신 추론한 내용은 옵션으로 요약본을 확인할 수 있음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추론 내용은 보여주지 않으면서 그 토큰들은 </a:t>
            </a:r>
            <a:r>
              <a:rPr lang="en-US" altLang="ko-KR" dirty="0"/>
              <a:t>context window </a:t>
            </a:r>
            <a:r>
              <a:rPr lang="ko-KR" altLang="en-US" dirty="0"/>
              <a:t>자리를 차지하고</a:t>
            </a:r>
            <a:r>
              <a:rPr lang="en-US" altLang="ko-KR" dirty="0"/>
              <a:t> </a:t>
            </a:r>
            <a:r>
              <a:rPr lang="ko-KR" altLang="en-US" dirty="0"/>
              <a:t>결국 토큰 비용으로 청구됨</a:t>
            </a:r>
            <a:r>
              <a:rPr lang="en-US" altLang="ko-KR" dirty="0"/>
              <a:t>. </a:t>
            </a:r>
            <a:r>
              <a:rPr lang="ko-KR" altLang="en-US" dirty="0"/>
              <a:t>네트워크 관측자는 실제 모델이 무엇을 생각하고 있는지 토큰은 얼마나 썼는지 알 수가 없음</a:t>
            </a:r>
            <a:r>
              <a:rPr lang="en-US" altLang="ko-KR" dirty="0"/>
              <a:t>.</a:t>
            </a:r>
          </a:p>
          <a:p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77229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7C70E-7F55-0283-DC84-D53DC853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추론 깊이 식별을 왜 하는가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D0251-6DD5-E52A-7560-A7B311F77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추론형 모델은 답 전 스스로 사고하고</a:t>
            </a:r>
            <a:r>
              <a:rPr lang="en-US" altLang="ko-KR" b="0" dirty="0"/>
              <a:t>, </a:t>
            </a:r>
            <a:r>
              <a:rPr lang="ko-KR" altLang="en-US" b="0" dirty="0"/>
              <a:t>추론 깊이를 설정으로 조절이 가능함</a:t>
            </a:r>
            <a:r>
              <a:rPr lang="en-US" altLang="ko-KR" b="0" dirty="0"/>
              <a:t>. </a:t>
            </a:r>
          </a:p>
          <a:p>
            <a:r>
              <a:rPr lang="ko-KR" altLang="en-US" b="0" dirty="0"/>
              <a:t>암호화 트래픽의 </a:t>
            </a:r>
            <a:r>
              <a:rPr lang="ko-KR" altLang="ko-KR" b="0" dirty="0" err="1"/>
              <a:t>크기·방향·타이밍·개수</a:t>
            </a:r>
            <a:endParaRPr lang="en-US" altLang="ko-KR" b="0" dirty="0"/>
          </a:p>
          <a:p>
            <a:pPr lvl="1"/>
            <a:r>
              <a:rPr lang="ko-KR" altLang="en-US" b="0" dirty="0"/>
              <a:t>그 추론 깊이는 성능</a:t>
            </a:r>
            <a:r>
              <a:rPr lang="en-US" altLang="ko-KR" dirty="0"/>
              <a:t>, </a:t>
            </a:r>
            <a:r>
              <a:rPr lang="ko-KR" altLang="en-US" b="0" dirty="0"/>
              <a:t>비용</a:t>
            </a:r>
            <a:r>
              <a:rPr lang="ko-KR" altLang="en-US" dirty="0"/>
              <a:t>과 작업 난도를</a:t>
            </a:r>
            <a:r>
              <a:rPr lang="ko-KR" altLang="en-US" b="0" dirty="0"/>
              <a:t> 결정하는 핵심 요소임</a:t>
            </a:r>
            <a:r>
              <a:rPr lang="en-US" altLang="ko-KR" b="0" dirty="0"/>
              <a:t>.</a:t>
            </a:r>
          </a:p>
          <a:p>
            <a:pPr lvl="1"/>
            <a:r>
              <a:rPr lang="en-US" altLang="ko-KR" dirty="0"/>
              <a:t>API </a:t>
            </a:r>
            <a:r>
              <a:rPr lang="ko-KR" altLang="en-US" dirty="0"/>
              <a:t>사용자는 추론 깊이를 </a:t>
            </a:r>
            <a:r>
              <a:rPr lang="en-US" altLang="ko-KR" dirty="0"/>
              <a:t>usage</a:t>
            </a:r>
            <a:r>
              <a:rPr lang="ko-KR" altLang="en-US" dirty="0"/>
              <a:t>로 확인할 수 있</a:t>
            </a:r>
            <a:r>
              <a:rPr lang="ko-KR" altLang="ko-KR" dirty="0"/>
              <a:t>지만 네트워크 관측자는 응답이 암호화돼 그 </a:t>
            </a:r>
            <a:r>
              <a:rPr lang="ko-KR" altLang="ko-KR" dirty="0" err="1"/>
              <a:t>추론량을</a:t>
            </a:r>
            <a:r>
              <a:rPr lang="en-US" altLang="ko-KR" dirty="0"/>
              <a:t> </a:t>
            </a:r>
            <a:r>
              <a:rPr lang="ko-KR" altLang="en-US" dirty="0"/>
              <a:t>보지 못하고 패킷의 </a:t>
            </a:r>
            <a:r>
              <a:rPr lang="ko-KR" altLang="ko-KR" dirty="0" err="1"/>
              <a:t>크기·방향·타이밍·개수</a:t>
            </a:r>
            <a:r>
              <a:rPr lang="ko-KR" altLang="en-US" dirty="0" err="1"/>
              <a:t>만</a:t>
            </a:r>
            <a:r>
              <a:rPr lang="ko-KR" altLang="en-US" dirty="0"/>
              <a:t> 확인 가능</a:t>
            </a:r>
            <a:r>
              <a:rPr lang="ko-KR" altLang="ko-KR" dirty="0"/>
              <a:t>. </a:t>
            </a:r>
            <a:endParaRPr lang="en-US" altLang="ko-KR" dirty="0"/>
          </a:p>
          <a:p>
            <a:r>
              <a:rPr lang="ko-KR" altLang="en-US" b="0" dirty="0"/>
              <a:t>패킷의 </a:t>
            </a:r>
            <a:r>
              <a:rPr lang="ko-KR" altLang="ko-KR" b="0" dirty="0" err="1"/>
              <a:t>크기·방향·타이밍·개수</a:t>
            </a:r>
            <a:r>
              <a:rPr lang="ko-KR" altLang="en-US" b="0" dirty="0" err="1"/>
              <a:t>를</a:t>
            </a:r>
            <a:r>
              <a:rPr lang="ko-KR" altLang="en-US" b="0" dirty="0"/>
              <a:t> 입력 피처로 활용해서 짧은 추론 </a:t>
            </a:r>
            <a:r>
              <a:rPr lang="en-US" altLang="ko-KR" b="0" dirty="0"/>
              <a:t>vs </a:t>
            </a:r>
            <a:r>
              <a:rPr lang="ko-KR" altLang="en-US" b="0" dirty="0"/>
              <a:t>긴 추론 이진 분류를 진행</a:t>
            </a:r>
            <a:endParaRPr lang="en-US" altLang="ko-KR" b="0" dirty="0"/>
          </a:p>
          <a:p>
            <a:r>
              <a:rPr lang="ko-KR" altLang="en-US" b="0" dirty="0"/>
              <a:t>짧은 </a:t>
            </a:r>
            <a:r>
              <a:rPr lang="en-US" altLang="ko-KR" b="0" dirty="0"/>
              <a:t>/ </a:t>
            </a:r>
            <a:r>
              <a:rPr lang="ko-KR" altLang="en-US" b="0" dirty="0"/>
              <a:t>긴 추론의</a:t>
            </a:r>
            <a:r>
              <a:rPr lang="en-US" altLang="ko-KR" b="0" dirty="0"/>
              <a:t> </a:t>
            </a:r>
            <a:r>
              <a:rPr lang="ko-KR" altLang="en-US" b="0" dirty="0"/>
              <a:t>정의</a:t>
            </a:r>
            <a:r>
              <a:rPr lang="en-US" altLang="ko-KR" b="0" dirty="0"/>
              <a:t>: </a:t>
            </a:r>
            <a:r>
              <a:rPr lang="ko-KR" altLang="en-US" b="0" dirty="0"/>
              <a:t>한 요청에서 모델이 쓴 </a:t>
            </a:r>
            <a:r>
              <a:rPr lang="ko-KR" altLang="en-US" b="0" dirty="0" err="1"/>
              <a:t>추론량이</a:t>
            </a:r>
            <a:r>
              <a:rPr lang="ko-KR" altLang="en-US" b="0" dirty="0"/>
              <a:t> 적음 </a:t>
            </a:r>
            <a:r>
              <a:rPr lang="en-US" altLang="ko-KR" b="0" dirty="0"/>
              <a:t>/ </a:t>
            </a:r>
            <a:r>
              <a:rPr lang="ko-KR" altLang="en-US" b="0" dirty="0"/>
              <a:t>많음</a:t>
            </a:r>
            <a:endParaRPr lang="en-US" altLang="ko-KR" b="0" dirty="0"/>
          </a:p>
          <a:p>
            <a:pPr lvl="1"/>
            <a:r>
              <a:rPr lang="ko-KR" altLang="en-US" dirty="0"/>
              <a:t>정답 라벨 두 가지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b="0" dirty="0"/>
              <a:t>API</a:t>
            </a:r>
            <a:r>
              <a:rPr lang="ko-KR" altLang="en-US" b="0" dirty="0"/>
              <a:t> </a:t>
            </a:r>
            <a:r>
              <a:rPr lang="en-US" altLang="ko-KR" b="0" dirty="0"/>
              <a:t>Effort</a:t>
            </a:r>
            <a:r>
              <a:rPr lang="ko-KR" altLang="en-US" b="0" dirty="0"/>
              <a:t> 설정 </a:t>
            </a:r>
            <a:r>
              <a:rPr lang="en-US" altLang="ko-KR" b="0" dirty="0"/>
              <a:t>(low/high): </a:t>
            </a:r>
            <a:r>
              <a:rPr lang="ko-KR" altLang="en-US" b="0" dirty="0"/>
              <a:t>같은 프롬프트에 </a:t>
            </a:r>
            <a:r>
              <a:rPr lang="en-US" altLang="ko-KR" b="0" dirty="0"/>
              <a:t>effort</a:t>
            </a:r>
            <a:r>
              <a:rPr lang="ko-KR" altLang="en-US" b="0" dirty="0"/>
              <a:t>만 바꿔서 둘을 비교</a:t>
            </a:r>
            <a:r>
              <a:rPr lang="en-US" altLang="ko-KR" b="0" dirty="0"/>
              <a:t>.</a:t>
            </a:r>
          </a:p>
          <a:p>
            <a:pPr lvl="2"/>
            <a:r>
              <a:rPr lang="ko-KR" altLang="ko-KR" dirty="0" err="1"/>
              <a:t>Realized</a:t>
            </a:r>
            <a:r>
              <a:rPr lang="ko-KR" altLang="ko-KR" dirty="0"/>
              <a:t>(실제 </a:t>
            </a:r>
            <a:r>
              <a:rPr lang="ko-KR" altLang="ko-KR" dirty="0" err="1"/>
              <a:t>추론량</a:t>
            </a:r>
            <a:r>
              <a:rPr lang="ko-KR" altLang="ko-KR" dirty="0"/>
              <a:t>): API </a:t>
            </a:r>
            <a:r>
              <a:rPr lang="ko-KR" altLang="ko-KR" dirty="0" err="1"/>
              <a:t>usage에</a:t>
            </a:r>
            <a:r>
              <a:rPr lang="ko-KR" altLang="ko-KR" dirty="0"/>
              <a:t> 찍힌 실제 생각 토큰 수를 사용.</a:t>
            </a:r>
            <a:r>
              <a:rPr lang="en-US" altLang="ko-KR" dirty="0"/>
              <a:t> (but. </a:t>
            </a:r>
            <a:r>
              <a:rPr lang="ko-KR" altLang="en-US" dirty="0"/>
              <a:t>이진 분류할 토큰 수의 기준을 정해야 함</a:t>
            </a:r>
            <a:r>
              <a:rPr lang="en-US" altLang="ko-KR" dirty="0"/>
              <a:t>.)</a:t>
            </a:r>
          </a:p>
          <a:p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55383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5FD12-1227-CBD9-90FE-419AAAA6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무엇을 분류하나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A2C327-71B7-8F7C-EA87-58874F6B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833178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">
  <a:themeElements>
    <a:clrScheme name="사용자 지정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27D34"/>
      </a:hlink>
      <a:folHlink>
        <a:srgbClr val="627D34"/>
      </a:folHlink>
    </a:clrScheme>
    <a:fontScheme name="NM LAB">
      <a:majorFont>
        <a:latin typeface="Arial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1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F07800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2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3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33CCCC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4">
        <a:dk1>
          <a:srgbClr val="4D4D4D"/>
        </a:dk1>
        <a:lt1>
          <a:srgbClr val="FFFFFF"/>
        </a:lt1>
        <a:dk2>
          <a:srgbClr val="999999"/>
        </a:dk2>
        <a:lt2>
          <a:srgbClr val="000000"/>
        </a:lt2>
        <a:accent1>
          <a:srgbClr val="F04E22"/>
        </a:accent1>
        <a:accent2>
          <a:srgbClr val="F0B500"/>
        </a:accent2>
        <a:accent3>
          <a:srgbClr val="FFFFFF"/>
        </a:accent3>
        <a:accent4>
          <a:srgbClr val="404040"/>
        </a:accent4>
        <a:accent5>
          <a:srgbClr val="F6B2AB"/>
        </a:accent5>
        <a:accent6>
          <a:srgbClr val="D9A400"/>
        </a:accent6>
        <a:hlink>
          <a:srgbClr val="0099FF"/>
        </a:hlink>
        <a:folHlink>
          <a:srgbClr val="00A6A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윾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M LAB">
      <a:majorFont>
        <a:latin typeface="Arial Black"/>
        <a:ea typeface="HY견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A3A6A9329C9A246B81ABEB6A2777A24" ma:contentTypeVersion="2" ma:contentTypeDescription="새 문서를 만듭니다." ma:contentTypeScope="" ma:versionID="df03cb6833c368fc165839b58309ba1e">
  <xsd:schema xmlns:xsd="http://www.w3.org/2001/XMLSchema" xmlns:xs="http://www.w3.org/2001/XMLSchema" xmlns:p="http://schemas.microsoft.com/office/2006/metadata/properties" xmlns:ns3="99f98c01-0513-4e87-a89e-9dd3c12356be" targetNamespace="http://schemas.microsoft.com/office/2006/metadata/properties" ma:root="true" ma:fieldsID="b5b60edf22c3eaccb594a15ae6ae5b61" ns3:_="">
    <xsd:import namespace="99f98c01-0513-4e87-a89e-9dd3c12356b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98c01-0513-4e87-a89e-9dd3c12356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05D362-8775-4A75-B26A-8D72A33862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98c01-0513-4e87-a89e-9dd3c12356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0ED3D9-1CB3-4D43-8166-1AE30A265E9D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99f98c01-0513-4e87-a89e-9dd3c12356be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810D661-B216-40A4-8CD1-843F44ECC2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77391</TotalTime>
  <Words>514</Words>
  <Application>Microsoft Office PowerPoint</Application>
  <PresentationFormat>와이드스크린</PresentationFormat>
  <Paragraphs>47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Noto Sans KR</vt:lpstr>
      <vt:lpstr>Arial</vt:lpstr>
      <vt:lpstr>Roboto</vt:lpstr>
      <vt:lpstr>Wingdings</vt:lpstr>
      <vt:lpstr>3_default</vt:lpstr>
      <vt:lpstr>Office 테마</vt:lpstr>
      <vt:lpstr>암호화 LLM 트래픽 추론 깊이 식별 연구</vt:lpstr>
      <vt:lpstr>목차</vt:lpstr>
      <vt:lpstr>1. 연구 배경 ①</vt:lpstr>
      <vt:lpstr>2. 연구 배경 ②</vt:lpstr>
      <vt:lpstr>3. 추론 깊이 식별을 왜 하는가</vt:lpstr>
      <vt:lpstr>4. 무엇을 분류하나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helpnara</dc:creator>
  <cp:lastModifiedBy>심규상</cp:lastModifiedBy>
  <cp:revision>647</cp:revision>
  <cp:lastPrinted>2025-12-04T01:24:38Z</cp:lastPrinted>
  <dcterms:created xsi:type="dcterms:W3CDTF">2016-08-13T04:33:54Z</dcterms:created>
  <dcterms:modified xsi:type="dcterms:W3CDTF">2026-09-21T04:13:42Z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0x010100BA3A6A9329C9A246B81ABEB6A2777A24</vt:lpwstr>
  </property>
</Properties>
</file>